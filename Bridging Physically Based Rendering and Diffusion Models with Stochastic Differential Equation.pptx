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60" r:id="rId3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1" r:id="rId8"/>
    <p:sldId id="260" r:id="rId9"/>
    <p:sldId id="262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24" autoAdjust="0"/>
  </p:normalViewPr>
  <p:slideViewPr>
    <p:cSldViewPr snapToGrid="0">
      <p:cViewPr>
        <p:scale>
          <a:sx n="100" d="100"/>
          <a:sy n="100" d="100"/>
        </p:scale>
        <p:origin x="8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37AF1-7F0D-4B27-88EC-9ABEE5D0F205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F7A929-EBF4-4CA4-850E-F885218E08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3487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915602-D879-47AA-87B2-BF4B4E6ECEB8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451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7A929-EBF4-4CA4-850E-F885218E081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809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FE360E-9F82-03BE-53C1-700F11AB1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62F1125-7538-5951-A4D5-05BEFAEC7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A6433D-9053-FBE9-5CE1-4CA167B8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294B-503D-45D0-84E8-EDB5DBBC66E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76673C-69FB-7184-D357-A183EB81A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EC6A20-17D7-5F0E-7A21-A6C7DC45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2B63C-B995-4AE0-899F-E6AE08312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022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6F2A77-FC78-73E9-FC70-0C6C88874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87C2AC-97A6-7DF1-ECDA-DDE359705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96F03B-F2A2-2ADB-BEC3-B86A9F99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294B-503D-45D0-84E8-EDB5DBBC66E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2BC815-B066-B494-E042-EB6C1CBE3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9F6A2A-E728-66E3-1B5B-E0957AAF9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2B63C-B995-4AE0-899F-E6AE08312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886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AA6FFC-46CB-CD62-BA79-097F0D3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36D6ACC-9CA4-2E0A-E51F-5FAF8160D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73EF7D-70AB-8659-68ED-751DED0CB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294B-503D-45D0-84E8-EDB5DBBC66E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88867E-D7D5-C9F3-880E-2319FDBD7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A16C62-EAF2-E5C3-BC53-154D9746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2B63C-B995-4AE0-899F-E6AE08312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8245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398BFA-7128-2719-F00F-BC86A9393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CF0DA2-CD55-C127-81D1-B505B802D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6E6301-C729-2280-F396-5A4ADBAC4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971347-9061-2C6E-1EB8-9E8020D3F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294B-503D-45D0-84E8-EDB5DBBC66E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649298-DC03-4134-6B1E-ACB606A7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0FE612-9B6B-B6E9-1E8D-DB251D8D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2B63C-B995-4AE0-899F-E6AE08312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90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A584BB-6E2B-F910-99DE-0F7F0DC21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A3BD81-CA78-BEE6-EFCF-50B15B1A2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97577D-C50A-1DAF-E47F-2BDDA2022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127E8B-9D6B-1241-5642-006E3101C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306FC06-660B-58C3-9B7C-ACB2B41EE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E046862-DB69-D6FB-2014-8B8ED321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294B-503D-45D0-84E8-EDB5DBBC66E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BE548F9-EA1E-DD5A-3C39-D69D01D1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670A4EB-4297-8FCC-ACD8-CEFF49D36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2B63C-B995-4AE0-899F-E6AE08312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682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A18955-6862-770E-53DC-DEDE9B847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6BFD866-81D4-308D-254F-81EEE93D5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294B-503D-45D0-84E8-EDB5DBBC66E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7F9474F-CDB4-37EA-B5C4-9B5ADB662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4726A4-6650-511A-964B-590598DB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2B63C-B995-4AE0-899F-E6AE08312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6571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A564E32-F3FB-A7CA-DEC7-76C5C69E1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294B-503D-45D0-84E8-EDB5DBBC66E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ADE49F2-6148-B6BA-D212-8644B102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036E99-DA03-AC8B-EFBA-5F87283B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2B63C-B995-4AE0-899F-E6AE08312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1120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593F4D-D7A2-FBE1-2D6C-E6E9BDD50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36CEA1-624B-162B-E5A3-26627E2B8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305FCC3-F0FE-BAD5-2E65-177096554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CB5BFB-A736-CD6B-CED4-26CF10C9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294B-503D-45D0-84E8-EDB5DBBC66E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0EBEFC-86D5-4836-0328-B97B5E37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1FA0CA-81D1-9F49-C027-AA90D581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2B63C-B995-4AE0-899F-E6AE08312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6175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E5B13-5A07-C4B6-7D15-95E8841D6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30FFF47-838C-9F8E-B178-1E9E48ACB9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BFD838-A5FB-EE74-3920-F07860C38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349B01-551A-4CA2-C480-BE7250BD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294B-503D-45D0-84E8-EDB5DBBC66E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254961-E18B-4050-B227-85B994A9E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E2D3147-947E-2318-E4CF-4EBF4919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2B63C-B995-4AE0-899F-E6AE08312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8515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66C03F-1D23-0C63-5BF2-933BA47B2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9E2B00-3254-3E5D-F1B4-B51FAF3E5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587B4B-5AEC-F65B-855B-4654D81FA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294B-503D-45D0-84E8-EDB5DBBC66E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5F06E2-73C5-FBF9-15F6-96A1A2DB2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239B72-5FA5-1BDC-0632-E5754F24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2B63C-B995-4AE0-899F-E6AE08312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3611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CACD1CF-972C-089A-B65A-3D379D415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E29044-F23F-5F92-7530-2577DEEF5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F18802-ACD6-B927-38AB-61FC14025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294B-503D-45D0-84E8-EDB5DBBC66E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9F3955-A686-3338-7DA9-8EBB439F1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FA3F06-9E29-A7CA-1163-FAF8F1EA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2B63C-B995-4AE0-899F-E6AE08312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8152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7B5B46B-D538-9F28-1BAB-776621FB7DCE}"/>
              </a:ext>
            </a:extLst>
          </p:cNvPr>
          <p:cNvSpPr/>
          <p:nvPr userDrawn="1"/>
        </p:nvSpPr>
        <p:spPr>
          <a:xfrm>
            <a:off x="-2" y="0"/>
            <a:ext cx="12192003" cy="1152939"/>
          </a:xfrm>
          <a:prstGeom prst="rect">
            <a:avLst/>
          </a:prstGeom>
          <a:solidFill>
            <a:srgbClr val="00A0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F98BBE0-1D24-6AF2-BA3E-DEC5B2EA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35" y="103396"/>
            <a:ext cx="10180982" cy="1049544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0958A4-90D3-D377-2532-7815EE904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435" y="1362073"/>
            <a:ext cx="11463130" cy="5142244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FEE3AD-6384-1102-FA25-169C7E51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45417" y="498474"/>
            <a:ext cx="1282148" cy="365125"/>
          </a:xfrm>
        </p:spPr>
        <p:txBody>
          <a:bodyPr/>
          <a:lstStyle>
            <a:lvl1pPr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A07A33-D779-4A79-A49C-E26576C728D8}" type="slidenum">
              <a:rPr kumimoji="1" lang="ja-JP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メイリオ" panose="020B0604030504040204" pitchFamily="50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382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90229D-1AAE-23C3-D731-6E33594AF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CC9E4D-C679-20D4-A68B-BB01BFE4E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23BD44-A349-A67D-CC84-84EE8355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6B395-6D35-4546-B294-FB06DF790840}" type="datetime1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FC3268-3A36-FF66-9F9B-F0D68E94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C8C504-D315-A73F-87E2-EC1C1391A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3187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7B5B46B-D538-9F28-1BAB-776621FB7DCE}"/>
              </a:ext>
            </a:extLst>
          </p:cNvPr>
          <p:cNvSpPr/>
          <p:nvPr userDrawn="1"/>
        </p:nvSpPr>
        <p:spPr>
          <a:xfrm>
            <a:off x="-2" y="0"/>
            <a:ext cx="12192003" cy="1152939"/>
          </a:xfrm>
          <a:prstGeom prst="rect">
            <a:avLst/>
          </a:prstGeom>
          <a:solidFill>
            <a:srgbClr val="00A0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F98BBE0-1D24-6AF2-BA3E-DEC5B2EA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35" y="103396"/>
            <a:ext cx="10180982" cy="1049544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0958A4-90D3-D377-2532-7815EE904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435" y="1362073"/>
            <a:ext cx="11463130" cy="5142244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FEE3AD-6384-1102-FA25-169C7E51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45417" y="498474"/>
            <a:ext cx="1282148" cy="365125"/>
          </a:xfrm>
        </p:spPr>
        <p:txBody>
          <a:bodyPr/>
          <a:lstStyle>
            <a:lvl1pPr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defRPr>
            </a:lvl1pPr>
          </a:lstStyle>
          <a:p>
            <a:fld id="{05A07A33-D779-4A79-A49C-E26576C728D8}" type="slidenum">
              <a:rPr lang="ja-JP" altLang="en-US" smtClean="0"/>
              <a:pPr/>
              <a:t>‹#›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35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B65609-816B-F3A5-0E11-D93991D1B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8370C4-257B-3C4F-5395-CDB15242A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AA511D-EECC-C7A8-E4FB-717F75E6A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B2B4-6A7D-4731-81DC-57610CFA3027}" type="datetime1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E045EB-6D29-58E9-4C99-D37BDE89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0C11A9-189C-8F74-825F-259D6A34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958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3E7D78-BD6B-702B-0C26-E6FB22E64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4D09B3-2284-F6A2-61D4-55188354D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A4F18B-2983-FE73-CA75-7277C6FFF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615006-2C2A-B7DB-BFD8-2CC016D1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036F0-5381-44E0-A015-CBD42EDBEC45}" type="datetime1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2D2A2BD-5053-3A14-0200-1E1D3B7E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7725B0-D83E-B435-EC98-68AB5356A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3480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9BB6A3-E49B-4A25-31D2-6C4C26A04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47744B-9E5C-AD56-235B-7330E6DBC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209C14-BC8C-006A-AB8B-FDA2D2C2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2C4FFED-2590-A032-C05B-30B0DB382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CC203FD-43B8-2B27-9FFA-87C9691E0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3B82B8D-6EC8-4981-B43E-B181073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4E38-B061-47C5-9F79-5A9746F5CDE5}" type="datetime1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354467-2611-8398-CB42-5D5D4B7E5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555924B-DBA2-FAAF-3DD7-FCCA9E7E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47359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8C1315-F32B-A950-F131-ECD20BB29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32C97CF-05CD-199A-D125-F569079C2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1810-0526-4256-939F-2D28DFA5615F}" type="datetime1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CF4DEED-584B-DE91-1508-81AADA0E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EE76772-54C3-7DF2-17AB-C300B79F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11802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B502009-8781-63CF-4E49-A748A3CB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8516-8AC0-44E8-AB68-6CE99A3A52CB}" type="datetime1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78A615B-DDC1-4BEA-BF54-84D5815F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DD3BAC-E9E5-A042-7625-72FD4B3A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78980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594083-007D-C0E5-105B-B9BDC38C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93EA66-CF2C-F1B1-55B0-E9D74BD5D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8BB23F-C1B2-86C8-B700-93C5C57B4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591688-2CF2-0933-EF96-FF80191D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A23C2-F706-4F84-B465-CA89DAFBC4C2}" type="datetime1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AC11D5-2BFC-6618-B6F6-1EA0F6CC3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045EE5-4001-E842-C578-A1E3CE66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77796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C45C0F-3E00-9F4E-441B-144DB0BA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6FA0BF3-F917-1AB2-FCD7-E59445CF3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2EF50C-84FE-E1EE-8DF6-F00C88242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536BB8-2CCA-AA96-A538-9C067E41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FBC-01E8-4E3B-A4B2-3042EC8BF00A}" type="datetime1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226345-B282-E89A-31F7-40186208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D61155-9EE3-F69F-9D2A-5E0E0C1EA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94092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9AC9BE-7FE8-E0F1-115C-16E5E520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D991C54-8DCC-6DDF-D1AE-1705247D2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90026C-89ED-EE59-601D-3137F6D0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6C80-74FC-4B1B-8EAB-5BA2D3324131}" type="datetime1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30E05B-BAEF-6834-295E-043BBD10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715A68-9B4A-0236-BFE7-F0158F79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46031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D3E743-F543-A358-D861-CD1B1846F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4A9749-C092-AA1E-E5A8-6748EBEB7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DE97B5-8B6A-ED3D-4633-9D506EBA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111B-B7F2-4AFA-B2AD-22DD0AE2FAAF}" type="datetime1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BAD804-F7E6-10ED-5AC0-E8C291FA5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C11A4F-2CCE-5D35-F2F8-37586AC4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555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4E9E622-3CDF-CD0D-922F-57EEC661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32C2125-8C0E-CB91-7A53-21935D04F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CBF98E-33F5-AA00-CD85-6578EFA44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4294B-503D-45D0-84E8-EDB5DBBC66E1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B8AB9E-286B-832E-A345-C217B1E35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4F1074-04D4-A263-E02A-05225CF5A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2B63C-B995-4AE0-899F-E6AE08312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886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8498D93-6DD1-B239-0B11-3E556FCE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54FB8A-93DB-9C63-DBB9-2F0A2C28A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D75F5C-F0D0-7513-DDCB-FF42637AA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7487B-C611-4154-9D77-DC08D179CD6C}" type="datetime1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0C3DBE-DDCE-835B-650E-67278796B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t>レイトレ合宿 </a:t>
            </a: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t>11: Path for learning path tracing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5F1F78-12E9-38EC-5F22-BDF80CFCB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A07A33-D779-4A79-A49C-E26576C728D8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6506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8498D93-6DD1-B239-0B11-3E556FCE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54FB8A-93DB-9C63-DBB9-2F0A2C28A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D75F5C-F0D0-7513-DDCB-FF42637AA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7487B-C611-4154-9D77-DC08D179CD6C}" type="datetime1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0C3DBE-DDCE-835B-650E-67278796B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5F1F78-12E9-38EC-5F22-BDF80CFCB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58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geeksforgeeks.org/artificial-intelligence/what-are-diffusion-models/" TargetMode="Externa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FE5457-854A-AFD8-5368-B79611CE0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87956"/>
            <a:ext cx="12192000" cy="1448352"/>
          </a:xfrm>
        </p:spPr>
        <p:txBody>
          <a:bodyPr>
            <a:normAutofit/>
          </a:bodyPr>
          <a:lstStyle/>
          <a:p>
            <a:r>
              <a:rPr lang="en-US" altLang="ja-JP" sz="3600" b="1" dirty="0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  <a:t>Bridging Physically Based Rendering and Diffusion Models  </a:t>
            </a:r>
            <a:br>
              <a:rPr lang="en-US" altLang="ja-JP" sz="3600" b="1" dirty="0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</a:br>
            <a:r>
              <a:rPr lang="en-US" altLang="ja-JP" sz="3600" b="1" dirty="0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  <a:t>with Stochastic Differential Equation</a:t>
            </a:r>
            <a:endParaRPr kumimoji="1" lang="ja-JP" altLang="en-US" sz="3600" b="1" dirty="0">
              <a:solidFill>
                <a:schemeClr val="bg1"/>
              </a:solidFill>
              <a:latin typeface="Calibri" panose="020F0502020204030204" pitchFamily="34" charset="0"/>
              <a:ea typeface="メイリオ" panose="020B0604030504040204" pitchFamily="50" charset="-128"/>
              <a:cs typeface="Calibri" panose="020F0502020204030204" pitchFamily="34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82A2F0-031E-BF64-21A5-A74774A0C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7" y="5875710"/>
            <a:ext cx="9144000" cy="448469"/>
          </a:xfrm>
        </p:spPr>
        <p:txBody>
          <a:bodyPr>
            <a:normAutofit/>
          </a:bodyPr>
          <a:lstStyle/>
          <a:p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ichi-raven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44B2F1-B6AE-E373-B034-FD1371BAF358}"/>
              </a:ext>
            </a:extLst>
          </p:cNvPr>
          <p:cNvSpPr txBox="1"/>
          <p:nvPr/>
        </p:nvSpPr>
        <p:spPr>
          <a:xfrm>
            <a:off x="3047995" y="4322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  <a:t>Paper introduction</a:t>
            </a:r>
            <a:endParaRPr kumimoji="1" lang="ja-JP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0FC0E44-5F04-C06A-B1D2-D7D4782F2EC1}"/>
              </a:ext>
            </a:extLst>
          </p:cNvPr>
          <p:cNvSpPr txBox="1"/>
          <p:nvPr/>
        </p:nvSpPr>
        <p:spPr>
          <a:xfrm>
            <a:off x="1729503" y="3429000"/>
            <a:ext cx="87329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Junwei Shu, Wenjie Liu, </a:t>
            </a:r>
            <a:r>
              <a:rPr lang="en-US" altLang="ja-JP" sz="200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Changgu</a:t>
            </a:r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Chen, </a:t>
            </a:r>
            <a:r>
              <a:rPr lang="en-US" altLang="ja-JP" sz="200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Hantang</a:t>
            </a:r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Liu, Yang Li, </a:t>
            </a:r>
            <a:r>
              <a:rPr lang="en-US" altLang="ja-JP" sz="200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Changbo</a:t>
            </a:r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Wang</a:t>
            </a:r>
            <a:b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School of Computer Science and Technology, East China Normal University </a:t>
            </a:r>
          </a:p>
          <a:p>
            <a:pPr lvl="0"/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Kun Byte, School of Data Science and Engineering, East China Normal University</a:t>
            </a:r>
            <a:endParaRPr kumimoji="1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0DE0B71C-734D-A5F0-7321-9212784A6B25}"/>
              </a:ext>
            </a:extLst>
          </p:cNvPr>
          <p:cNvSpPr txBox="1">
            <a:spLocks/>
          </p:cNvSpPr>
          <p:nvPr/>
        </p:nvSpPr>
        <p:spPr>
          <a:xfrm>
            <a:off x="1523997" y="5362048"/>
            <a:ext cx="9144000" cy="448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SIGGRAPH Asia 2025 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9D4111-7D15-8E89-F1A8-F8B9FE4125C4}"/>
              </a:ext>
            </a:extLst>
          </p:cNvPr>
          <p:cNvSpPr txBox="1"/>
          <p:nvPr/>
        </p:nvSpPr>
        <p:spPr>
          <a:xfrm>
            <a:off x="4352925" y="6455584"/>
            <a:ext cx="7782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All figures without annotation in this slide are quoted from the same paper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39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388AFD-BD80-8989-6E83-DCF0DD99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Introduction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281F76-885A-3E2E-BE34-06BBD7FEF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Represent MC rendering as a </a:t>
            </a:r>
            <a:r>
              <a:rPr lang="en-US" altLang="ja-JP" b="1" dirty="0"/>
              <a:t>time step in a diffusion model</a:t>
            </a:r>
            <a:br>
              <a:rPr lang="en-US" altLang="ja-JP" dirty="0"/>
            </a:br>
            <a:r>
              <a:rPr lang="ja-JP" altLang="en-US" dirty="0"/>
              <a:t>→ </a:t>
            </a:r>
            <a:r>
              <a:rPr lang="en-US" altLang="ja-JP" dirty="0"/>
              <a:t>Achieve denoising, </a:t>
            </a:r>
            <a:r>
              <a:rPr lang="en-US" altLang="ja-JP" b="1" dirty="0"/>
              <a:t>physically plausible image generation and editing</a:t>
            </a:r>
            <a:endParaRPr kumimoji="1" lang="ja-JP" altLang="en-US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538AA3-16E2-CC2B-4A23-3D5FE76F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2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89226B2-EAB9-AB20-B948-A426EE89E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654" y="2248346"/>
            <a:ext cx="7798692" cy="390498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30913F9-35ED-8065-1B93-6CE02A92E49A}"/>
              </a:ext>
            </a:extLst>
          </p:cNvPr>
          <p:cNvSpPr txBox="1"/>
          <p:nvPr/>
        </p:nvSpPr>
        <p:spPr>
          <a:xfrm>
            <a:off x="3048000" y="61349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Comparison of convergence behavior in ray tracing and denoising behavior in the diffusion model</a:t>
            </a:r>
          </a:p>
        </p:txBody>
      </p:sp>
    </p:spTree>
    <p:extLst>
      <p:ext uri="{BB962C8B-B14F-4D97-AF65-F5344CB8AC3E}">
        <p14:creationId xmlns:p14="http://schemas.microsoft.com/office/powerpoint/2010/main" val="28301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8F18F-849B-D3F2-187D-929791FB1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6484CC-660D-682D-6948-1769FFE4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Background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A99E40-A723-8D21-F42A-EAB553496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135" y="1362072"/>
            <a:ext cx="11762910" cy="1224109"/>
          </a:xfrm>
        </p:spPr>
        <p:txBody>
          <a:bodyPr>
            <a:normAutofit fontScale="92500"/>
          </a:bodyPr>
          <a:lstStyle/>
          <a:p>
            <a:r>
              <a:rPr lang="en-US" altLang="ja-JP" dirty="0"/>
              <a:t>Diffusion model: Generative AI model, consisting of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ja-JP" dirty="0"/>
              <a:t>Forward diffusion: Add Gaussian noise to the source image and destroy it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ja-JP" b="1" dirty="0"/>
              <a:t>Reverse diffusion</a:t>
            </a:r>
            <a:r>
              <a:rPr lang="en-US" altLang="ja-JP" sz="2200" b="1" dirty="0"/>
              <a:t> </a:t>
            </a:r>
            <a:r>
              <a:rPr lang="en-US" altLang="ja-JP" dirty="0"/>
              <a:t>: Denoise images covered in Gaussian noise and restore the original images</a:t>
            </a:r>
            <a:endParaRPr kumimoji="1" lang="ja-JP" altLang="en-US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E6175C-D860-F3CB-73DA-230F08E4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3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623ED1F-3AEA-6158-2749-1A09F695AF6B}"/>
              </a:ext>
            </a:extLst>
          </p:cNvPr>
          <p:cNvSpPr txBox="1"/>
          <p:nvPr/>
        </p:nvSpPr>
        <p:spPr>
          <a:xfrm>
            <a:off x="683557" y="613472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Summary image of diffusion model</a:t>
            </a:r>
            <a:br>
              <a:rPr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ja-JP" sz="1400" dirty="0">
                <a:latin typeface="Calibri" panose="020F0502020204030204" pitchFamily="34" charset="0"/>
                <a:cs typeface="Calibri" panose="020F0502020204030204" pitchFamily="34" charset="0"/>
              </a:rPr>
              <a:t>(quoted from “</a:t>
            </a:r>
            <a:r>
              <a:rPr lang="en-US" altLang="ja-JP" sz="14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What are Diffusion Models?</a:t>
            </a:r>
            <a:r>
              <a:rPr lang="en-US" altLang="ja-JP" sz="1400" dirty="0">
                <a:latin typeface="Calibri" panose="020F0502020204030204" pitchFamily="34" charset="0"/>
                <a:cs typeface="Calibri" panose="020F0502020204030204" pitchFamily="34" charset="0"/>
              </a:rPr>
              <a:t>”)</a:t>
            </a:r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71D39F8-2A31-7B62-F638-21F509000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35" y="2671488"/>
            <a:ext cx="6962843" cy="3472761"/>
          </a:xfrm>
          <a:prstGeom prst="rect">
            <a:avLst/>
          </a:prstGeom>
        </p:spPr>
      </p:pic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92ADB8BA-1F39-1F7B-814C-0F01FFFC7F5E}"/>
              </a:ext>
            </a:extLst>
          </p:cNvPr>
          <p:cNvSpPr txBox="1">
            <a:spLocks/>
          </p:cNvSpPr>
          <p:nvPr/>
        </p:nvSpPr>
        <p:spPr>
          <a:xfrm>
            <a:off x="7212978" y="2671488"/>
            <a:ext cx="5121897" cy="3700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400" dirty="0"/>
              <a:t>Each of these stages is called </a:t>
            </a:r>
            <a:br>
              <a:rPr lang="en-US" altLang="ja-JP" sz="2400" dirty="0"/>
            </a:br>
            <a:r>
              <a:rPr lang="en-US" altLang="ja-JP" sz="2400" dirty="0"/>
              <a:t>“</a:t>
            </a:r>
            <a:r>
              <a:rPr lang="en-US" altLang="ja-JP" sz="2400" b="1" dirty="0"/>
              <a:t>time step</a:t>
            </a:r>
            <a:r>
              <a:rPr lang="en-US" altLang="ja-JP" sz="2400" dirty="0"/>
              <a:t>”</a:t>
            </a:r>
            <a:br>
              <a:rPr lang="en-US" altLang="ja-JP" sz="2400" dirty="0"/>
            </a:br>
            <a:endParaRPr lang="en-US" altLang="ja-JP" sz="2400" dirty="0"/>
          </a:p>
          <a:p>
            <a:r>
              <a:rPr lang="en-US" altLang="ja-JP" sz="2400" dirty="0"/>
              <a:t>In MC rendering as well, </a:t>
            </a:r>
            <a:br>
              <a:rPr lang="en-US" altLang="ja-JP" sz="2400" dirty="0"/>
            </a:br>
            <a:r>
              <a:rPr lang="en-US" altLang="ja-JP" sz="2400" dirty="0"/>
              <a:t>the results converge as </a:t>
            </a:r>
            <a:br>
              <a:rPr lang="en-US" altLang="ja-JP" sz="2400" dirty="0"/>
            </a:br>
            <a:r>
              <a:rPr lang="en-US" altLang="ja-JP" sz="2400" dirty="0"/>
              <a:t>time progresses (</a:t>
            </a:r>
            <a:r>
              <a:rPr lang="en-US" altLang="ja-JP" sz="2400" dirty="0" err="1"/>
              <a:t>spp</a:t>
            </a:r>
            <a:r>
              <a:rPr lang="en-US" altLang="ja-JP" sz="2400" dirty="0"/>
              <a:t> increases)</a:t>
            </a:r>
            <a:br>
              <a:rPr lang="en-US" altLang="ja-JP" sz="2400" dirty="0"/>
            </a:br>
            <a:endParaRPr lang="en-US" altLang="ja-JP" sz="2400" dirty="0"/>
          </a:p>
          <a:p>
            <a:r>
              <a:rPr lang="en-US" altLang="ja-JP" sz="2400" dirty="0"/>
              <a:t>They unified the convergence of </a:t>
            </a:r>
            <a:br>
              <a:rPr lang="en-US" altLang="ja-JP" sz="2400" dirty="0"/>
            </a:br>
            <a:r>
              <a:rPr lang="en-US" altLang="ja-JP" sz="2400" dirty="0"/>
              <a:t>both sides by expressing it as a </a:t>
            </a:r>
            <a:r>
              <a:rPr lang="en-US" altLang="ja-JP" sz="2400" b="1" dirty="0"/>
              <a:t>differential equation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196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61B00-442E-3151-76CC-016C7CA4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06D25A-AC28-E150-7DE1-61F4B9383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Overview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94E1B60-098B-032E-452F-D828730F5D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4544" y="4317477"/>
                <a:ext cx="11977456" cy="2292874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ja-JP" u="sng" dirty="0"/>
                  <a:t>MC-SDE</a:t>
                </a:r>
                <a:r>
                  <a:rPr lang="en-US" altLang="ja-JP" dirty="0"/>
                  <a:t>: Modeling the convergence of MC path tracing as “SDE”</a:t>
                </a:r>
                <a:br>
                  <a:rPr lang="en-US" altLang="ja-JP" dirty="0"/>
                </a:br>
                <a:r>
                  <a:rPr lang="en-US" altLang="ja-JP" dirty="0"/>
                  <a:t>	           (Stochastic</a:t>
                </a:r>
                <a:r>
                  <a:rPr lang="ja-JP" altLang="en-US" dirty="0"/>
                  <a:t> </a:t>
                </a:r>
                <a:r>
                  <a:rPr lang="en-US" altLang="ja-JP" dirty="0"/>
                  <a:t>Differential Equation)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ja-JP" u="sng" dirty="0"/>
                  <a:t>Time mapping</a:t>
                </a:r>
                <a:r>
                  <a:rPr lang="en-US" altLang="ja-JP" dirty="0"/>
                  <a:t>: Calculate the correspondence between the </a:t>
                </a:r>
                <a:br>
                  <a:rPr lang="en-US" altLang="ja-JP" dirty="0"/>
                </a:br>
                <a:r>
                  <a:rPr lang="en-US" altLang="ja-JP" dirty="0"/>
                  <a:t>		</a:t>
                </a:r>
                <a:r>
                  <a:rPr lang="ja-JP" altLang="en-US" dirty="0"/>
                  <a:t>　　 </a:t>
                </a:r>
                <a:r>
                  <a:rPr lang="en-US" altLang="ja-JP" b="1" dirty="0"/>
                  <a:t>“sample count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b="1" dirty="0"/>
                  <a:t>” </a:t>
                </a:r>
                <a:r>
                  <a:rPr lang="en-US" altLang="ja-JP" dirty="0"/>
                  <a:t>and the </a:t>
                </a:r>
                <a:r>
                  <a:rPr lang="en-US" altLang="ja-JP" b="1" dirty="0"/>
                  <a:t>“time step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b="1" dirty="0"/>
                  <a:t> of the diffusion model”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ja-JP" u="sng" dirty="0"/>
                  <a:t>Adapter</a:t>
                </a:r>
                <a:r>
                  <a:rPr lang="en-US" altLang="ja-JP" dirty="0"/>
                  <a:t>: Neural network bridging the </a:t>
                </a:r>
                <a:r>
                  <a:rPr lang="en-US" altLang="ja-JP" b="1" dirty="0"/>
                  <a:t>domain gap </a:t>
                </a:r>
                <a:br>
                  <a:rPr lang="en-US" altLang="ja-JP" dirty="0"/>
                </a:br>
                <a:r>
                  <a:rPr lang="en-US" altLang="ja-JP" dirty="0"/>
                  <a:t>	           </a:t>
                </a:r>
                <a:r>
                  <a:rPr lang="en-US" altLang="ja-JP" sz="1200" dirty="0"/>
                  <a:t> </a:t>
                </a:r>
                <a:r>
                  <a:rPr lang="en-US" altLang="ja-JP" dirty="0"/>
                  <a:t>between Gaussian noise in diffusion models and MC noise</a:t>
                </a:r>
                <a:endParaRPr kumimoji="1" lang="ja-JP" altLang="en-US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94E1B60-098B-032E-452F-D828730F5D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4544" y="4317477"/>
                <a:ext cx="11977456" cy="2292874"/>
              </a:xfrm>
              <a:blipFill>
                <a:blip r:embed="rId2"/>
                <a:stretch>
                  <a:fillRect l="-916" t="-5585" b="-55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AF982C-63E5-8ABF-39A7-C789DEB6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4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4B5ED4D-D804-CD0C-C715-417D0C997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139" y="1198596"/>
            <a:ext cx="6841721" cy="307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08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CE2EE-CCCE-9418-3E76-CA992CD4B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CD4650-AE20-2C9D-9846-F82BC1D56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Deriving MC-SDE (roughly)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977F3A6-8406-F7E4-06E5-62F49348E1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4422" y="1355202"/>
                <a:ext cx="11977456" cy="13403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ja-JP" u="sng" dirty="0"/>
                  <a:t>1. Approximation using CLT:</a:t>
                </a:r>
              </a:p>
              <a:p>
                <a:pPr marL="0" indent="0">
                  <a:buNone/>
                </a:pPr>
                <a:r>
                  <a:rPr lang="en-US" altLang="ja-JP" sz="2400" dirty="0"/>
                  <a:t>When considering MC integral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1" lang="en-US" altLang="ja-JP" sz="2400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∼ 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(0, 1)</m:t>
                    </m:r>
                  </m:oMath>
                </a14:m>
                <a:r>
                  <a:rPr kumimoji="1" lang="ja-JP" altLang="en-US" sz="2400" dirty="0"/>
                  <a:t> </a:t>
                </a:r>
                <a:r>
                  <a:rPr kumimoji="1" lang="en-US" altLang="ja-JP" sz="2400" dirty="0"/>
                  <a:t>based on CLT</a:t>
                </a:r>
                <a:endParaRPr kumimoji="1" lang="ja-JP" altLang="en-US" sz="2400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977F3A6-8406-F7E4-06E5-62F49348E1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4422" y="1355202"/>
                <a:ext cx="11977456" cy="1340373"/>
              </a:xfrm>
              <a:blipFill>
                <a:blip r:embed="rId3"/>
                <a:stretch>
                  <a:fillRect l="-1069" t="-7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E2088B-1228-9F04-D9FC-4368CD2C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5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コンテンツ プレースホルダー 2">
                <a:extLst>
                  <a:ext uri="{FF2B5EF4-FFF2-40B4-BE49-F238E27FC236}">
                    <a16:creationId xmlns:a16="http://schemas.microsoft.com/office/drawing/2014/main" id="{BC8BBC91-D53C-64AB-7DC9-C7E64944B4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422" y="2511163"/>
                <a:ext cx="11977456" cy="216930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kumimoji="1" sz="2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ja-JP" u="sng" dirty="0"/>
                  <a:t>2. Mapping to the continuous time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1" u="sng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ja-JP" u="sng" dirty="0"/>
                  <a:t>:</a:t>
                </a:r>
              </a:p>
              <a:p>
                <a:pPr marL="0" indent="0">
                  <a:buNone/>
                </a:pPr>
                <a:r>
                  <a:rPr lang="en-US" altLang="ja-JP" sz="2400" dirty="0"/>
                  <a:t>Define the mapping of continuous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ja-JP" sz="2400" dirty="0"/>
                  <a:t> and sample count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altLang="ja-JP" sz="2400" dirty="0"/>
                  <a:t>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) = </m:t>
                      </m:r>
                      <m:sSup>
                        <m:sSup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altLang="ja-JP" sz="24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 &gt; 0</m:t>
                      </m:r>
                    </m:oMath>
                  </m:oMathPara>
                </a14:m>
                <a:endParaRPr lang="en-US" altLang="ja-JP" sz="2400" dirty="0"/>
              </a:p>
              <a:p>
                <a:pPr marL="0" indent="0">
                  <a:buNone/>
                </a:pPr>
                <a:r>
                  <a:rPr lang="en-US" altLang="ja-JP" sz="2400" dirty="0"/>
                  <a:t>The update of the estimator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ja-JP" sz="2400" dirty="0"/>
                  <a:t> by the change from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ja-JP" sz="2400" dirty="0"/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 altLang="ja-JP" sz="2400" b="0" i="1" smtClean="0">
                        <a:latin typeface="Cambria Math" panose="02040503050406030204" pitchFamily="18" charset="0"/>
                      </a:rPr>
                      <m:t>Δτ</m:t>
                    </m:r>
                  </m:oMath>
                </a14:m>
                <a:r>
                  <a:rPr lang="en-US" altLang="ja-JP" sz="2400" dirty="0"/>
                  <a:t> (adding samples) is: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ΔY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) = </m:t>
                      </m:r>
                      <m:sSub>
                        <m:sSub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ja-JP" sz="2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altLang="ja-JP" sz="2400" b="0" i="0" smtClean="0">
                          <a:latin typeface="Cambria Math" panose="02040503050406030204" pitchFamily="18" charset="0"/>
                        </a:rPr>
                        <m:t> - </m:t>
                      </m:r>
                      <m:sSub>
                        <m:sSubPr>
                          <m:ctrlPr>
                            <a:rPr lang="en-US" altLang="ja-JP" sz="24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ja-JP" sz="2400" b="0" i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5" name="コンテンツ プレースホルダー 2">
                <a:extLst>
                  <a:ext uri="{FF2B5EF4-FFF2-40B4-BE49-F238E27FC236}">
                    <a16:creationId xmlns:a16="http://schemas.microsoft.com/office/drawing/2014/main" id="{BC8BBC91-D53C-64AB-7DC9-C7E64944B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22" y="2511163"/>
                <a:ext cx="11977456" cy="2169309"/>
              </a:xfrm>
              <a:prstGeom prst="rect">
                <a:avLst/>
              </a:prstGeom>
              <a:blipFill>
                <a:blip r:embed="rId4"/>
                <a:stretch>
                  <a:fillRect l="-1069" t="-47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コンテンツ プレースホルダー 2">
                <a:extLst>
                  <a:ext uri="{FF2B5EF4-FFF2-40B4-BE49-F238E27FC236}">
                    <a16:creationId xmlns:a16="http://schemas.microsoft.com/office/drawing/2014/main" id="{B515ED38-C54C-5256-E9BB-120E0C3B7B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422" y="4670947"/>
                <a:ext cx="11663143" cy="15875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kumimoji="1" sz="2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ja-JP" u="sng" dirty="0"/>
                  <a:t>3. Extreme operation with Wiener process:</a:t>
                </a:r>
              </a:p>
              <a:p>
                <a:pPr marL="0" indent="0">
                  <a:buNone/>
                </a:pPr>
                <a:r>
                  <a:rPr lang="en-US" altLang="ja-JP" sz="2400" dirty="0"/>
                  <a:t>Taking the limit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1" smtClean="0">
                        <a:latin typeface="Cambria Math" panose="02040503050406030204" pitchFamily="18" charset="0"/>
                      </a:rPr>
                      <m:t>Δτ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 → 0</m:t>
                    </m:r>
                  </m:oMath>
                </a14:m>
                <a:r>
                  <a:rPr lang="en-US" altLang="ja-JP" sz="2400" dirty="0"/>
                  <a:t> yields the same inverse-time SDE as the diffusion model:</a:t>
                </a:r>
                <a:br>
                  <a:rPr lang="en-US" altLang="ja-JP" sz="2400" dirty="0"/>
                </a:br>
                <a:endParaRPr lang="en-US" altLang="ja-JP" sz="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dY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τ</m:t>
                          </m:r>
                        </m:den>
                      </m:f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2400" i="1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2400" i="1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m:rPr>
                          <m:sty m:val="p"/>
                        </m:rPr>
                        <a:rPr lang="en-US" altLang="ja-JP" sz="2400" i="1">
                          <a:latin typeface="Cambria Math" panose="02040503050406030204" pitchFamily="18" charset="0"/>
                        </a:rPr>
                        <m:t>μ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dτ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σ</m:t>
                      </m:r>
                      <m:rad>
                        <m:radPr>
                          <m:degHide m:val="on"/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rad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ja-JP" altLang="en-US" sz="2400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m:rPr>
                          <m:sty m:val="p"/>
                        </m:rPr>
                        <a:rPr lang="en-US" altLang="ja-JP" sz="2400" i="1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(0, </m:t>
                      </m:r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dτ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altLang="ja-JP" sz="2400" dirty="0"/>
                </a:br>
                <a:endParaRPr lang="ja-JP" altLang="en-US" sz="2400" dirty="0"/>
              </a:p>
            </p:txBody>
          </p:sp>
        </mc:Choice>
        <mc:Fallback>
          <p:sp>
            <p:nvSpPr>
              <p:cNvPr id="7" name="コンテンツ プレースホルダー 2">
                <a:extLst>
                  <a:ext uri="{FF2B5EF4-FFF2-40B4-BE49-F238E27FC236}">
                    <a16:creationId xmlns:a16="http://schemas.microsoft.com/office/drawing/2014/main" id="{B515ED38-C54C-5256-E9BB-120E0C3B7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22" y="4670947"/>
                <a:ext cx="11663143" cy="1587501"/>
              </a:xfrm>
              <a:prstGeom prst="rect">
                <a:avLst/>
              </a:prstGeom>
              <a:blipFill>
                <a:blip r:embed="rId5"/>
                <a:stretch>
                  <a:fillRect l="-1098" t="-84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左中かっこ 8">
            <a:extLst>
              <a:ext uri="{FF2B5EF4-FFF2-40B4-BE49-F238E27FC236}">
                <a16:creationId xmlns:a16="http://schemas.microsoft.com/office/drawing/2014/main" id="{D6253B27-542C-A4B9-1C10-9C4A8FEB0F8E}"/>
              </a:ext>
            </a:extLst>
          </p:cNvPr>
          <p:cNvSpPr/>
          <p:nvPr/>
        </p:nvSpPr>
        <p:spPr>
          <a:xfrm rot="16200000">
            <a:off x="4419601" y="5299076"/>
            <a:ext cx="200023" cy="2047875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33EDBEC-A6D3-8817-C9AE-E76C02F0FBD3}"/>
              </a:ext>
            </a:extLst>
          </p:cNvPr>
          <p:cNvSpPr txBox="1"/>
          <p:nvPr/>
        </p:nvSpPr>
        <p:spPr>
          <a:xfrm>
            <a:off x="3495675" y="6412468"/>
            <a:ext cx="2047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Drift term</a:t>
            </a:r>
            <a:endParaRPr kumimoji="1" lang="ja-JP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左中かっこ 10">
            <a:extLst>
              <a:ext uri="{FF2B5EF4-FFF2-40B4-BE49-F238E27FC236}">
                <a16:creationId xmlns:a16="http://schemas.microsoft.com/office/drawing/2014/main" id="{164C8F45-ED1F-D8C1-C134-AF01D108D2EA}"/>
              </a:ext>
            </a:extLst>
          </p:cNvPr>
          <p:cNvSpPr/>
          <p:nvPr/>
        </p:nvSpPr>
        <p:spPr>
          <a:xfrm rot="16200000">
            <a:off x="6569248" y="5696122"/>
            <a:ext cx="200023" cy="1253781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8372F0B-AE94-1A2B-7F5C-A758F8C98AA7}"/>
              </a:ext>
            </a:extLst>
          </p:cNvPr>
          <p:cNvSpPr txBox="1"/>
          <p:nvPr/>
        </p:nvSpPr>
        <p:spPr>
          <a:xfrm>
            <a:off x="5543550" y="6412468"/>
            <a:ext cx="2322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Diffusion term (noise)</a:t>
            </a:r>
            <a:endParaRPr kumimoji="1" lang="ja-JP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89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379F8-A37F-47C8-B5E0-78405B4F4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0EA99E-B4C5-6ED1-8410-02B3F56EF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Time mapping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78B6FC6-44EC-4202-B97B-5E4E755A6F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4422" y="1355202"/>
                <a:ext cx="11977456" cy="921273"/>
              </a:xfrm>
            </p:spPr>
            <p:txBody>
              <a:bodyPr>
                <a:normAutofit/>
              </a:bodyPr>
              <a:lstStyle/>
              <a:p>
                <a:r>
                  <a:rPr lang="en-US" altLang="ja-JP" dirty="0"/>
                  <a:t>Estimate diffusion model’s time step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ja-JP" dirty="0"/>
                  <a:t> </a:t>
                </a:r>
                <a:br>
                  <a:rPr lang="en-US" altLang="ja-JP" dirty="0"/>
                </a:br>
                <a:r>
                  <a:rPr lang="en-US" altLang="ja-JP" dirty="0"/>
                  <a:t>s</a:t>
                </a:r>
                <a:r>
                  <a:rPr lang="en-US" altLang="ja-JP" dirty="0" err="1"/>
                  <a:t>.t.</a:t>
                </a:r>
                <a:r>
                  <a:rPr lang="en-US" altLang="ja-JP" dirty="0"/>
                  <a:t> the log-SNR match to the MC image at time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i="1" dirty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ja-JP" dirty="0"/>
                  <a:t> </a:t>
                </a:r>
                <a:endParaRPr kumimoji="1" lang="ja-JP" altLang="en-US" sz="2400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78B6FC6-44EC-4202-B97B-5E4E755A6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4422" y="1355202"/>
                <a:ext cx="11977456" cy="921273"/>
              </a:xfrm>
              <a:blipFill>
                <a:blip r:embed="rId2"/>
                <a:stretch>
                  <a:fillRect l="-916" t="-10596" b="-1258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230171-8C6A-1C3F-11A9-54CFADF0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6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コンテンツ プレースホルダー 2">
                <a:extLst>
                  <a:ext uri="{FF2B5EF4-FFF2-40B4-BE49-F238E27FC236}">
                    <a16:creationId xmlns:a16="http://schemas.microsoft.com/office/drawing/2014/main" id="{B455E4A2-DB56-1C79-799B-9AF310F4E0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3587" y="1815838"/>
                <a:ext cx="8124825" cy="29675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kumimoji="1" sz="2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400">
                          <a:latin typeface="Cambria Math" panose="02040503050406030204" pitchFamily="18" charset="0"/>
                        </a:rPr>
                        <m:t>SN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24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400">
                              <a:latin typeface="Cambria Math" panose="02040503050406030204" pitchFamily="18" charset="0"/>
                            </a:rPr>
                            <m:t>VP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 := </m:t>
                      </m:r>
                      <m:f>
                        <m:f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bar>
                          <m:sSup>
                            <m:sSup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ja-JP" sz="2400" b="0" i="0" smtClean="0">
                                  <a:latin typeface="Cambria Math" panose="02040503050406030204" pitchFamily="18" charset="0"/>
                                </a:rPr>
                                <m:t>VP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br>
                  <a:rPr lang="en-US" altLang="ja-JP" sz="2400" b="0" i="1" dirty="0">
                    <a:latin typeface="Cambria Math" panose="02040503050406030204" pitchFamily="18" charset="0"/>
                  </a:rPr>
                </a:br>
                <a:endParaRPr lang="en-US" altLang="ja-JP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400">
                          <a:latin typeface="Cambria Math" panose="02040503050406030204" pitchFamily="18" charset="0"/>
                        </a:rPr>
                        <m:t>SN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24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400">
                              <a:latin typeface="Cambria Math" panose="02040503050406030204" pitchFamily="18" charset="0"/>
                            </a:rPr>
                            <m:t>MC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 := </m:t>
                      </m:r>
                      <m:f>
                        <m:f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κ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ja-JP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𝑑𝑖𝑓𝑓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) := </m:t>
                      </m:r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m:rPr>
                          <m:sty m:val="p"/>
                        </m:rPr>
                        <a:rPr lang="en-US" altLang="ja-JP" sz="2400" b="0" i="0" smtClean="0">
                          <a:latin typeface="Cambria Math" panose="02040503050406030204" pitchFamily="18" charset="0"/>
                        </a:rPr>
                        <m:t>SN</m:t>
                      </m:r>
                      <m:sSub>
                        <m:sSubPr>
                          <m:ctrlPr>
                            <a:rPr lang="en-US" altLang="ja-JP" sz="24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24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400" b="0" i="0" smtClean="0">
                              <a:latin typeface="Cambria Math" panose="02040503050406030204" pitchFamily="18" charset="0"/>
                            </a:rPr>
                            <m:t>VP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) , </m:t>
                      </m:r>
                      <m:r>
                        <a:rPr lang="ja-JP" altLang="en-US" sz="2400" i="1">
                          <a:latin typeface="Cambria Math" panose="02040503050406030204" pitchFamily="18" charset="0"/>
                        </a:rPr>
                        <m:t>　</m:t>
                      </m:r>
                      <m:sSub>
                        <m:sSub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m:rPr>
                              <m:sty m:val="p"/>
                            </m:r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) ≔</m:t>
                      </m:r>
                      <m:r>
                        <m:rPr>
                          <m:sty m:val="p"/>
                        </m:rPr>
                        <a:rPr lang="en-US" altLang="ja-JP" sz="2400" i="1">
                          <a:latin typeface="Cambria Math" panose="02040503050406030204" pitchFamily="18" charset="0"/>
                        </a:rPr>
                        <m:t>log</m:t>
                      </m:r>
                      <m:r>
                        <m:rPr>
                          <m:sty m:val="p"/>
                        </m:rPr>
                        <a:rPr lang="en-US" altLang="ja-JP" sz="2400" i="0" smtClean="0">
                          <a:latin typeface="Cambria Math" panose="02040503050406030204" pitchFamily="18" charset="0"/>
                        </a:rPr>
                        <m:t>SN</m:t>
                      </m:r>
                      <m:sSub>
                        <m:sSubPr>
                          <m:ctrlPr>
                            <a:rPr lang="en-US" altLang="ja-JP" sz="24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2400" i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400" b="0" i="0" smtClean="0">
                              <a:latin typeface="Cambria Math" panose="02040503050406030204" pitchFamily="18" charset="0"/>
                            </a:rPr>
                            <m:t>MC</m:t>
                          </m:r>
                        </m:sub>
                      </m:sSub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ja-JP" altLang="en-US" sz="2400" dirty="0"/>
              </a:p>
            </p:txBody>
          </p:sp>
        </mc:Choice>
        <mc:Fallback>
          <p:sp>
            <p:nvSpPr>
              <p:cNvPr id="13" name="コンテンツ プレースホルダー 2">
                <a:extLst>
                  <a:ext uri="{FF2B5EF4-FFF2-40B4-BE49-F238E27FC236}">
                    <a16:creationId xmlns:a16="http://schemas.microsoft.com/office/drawing/2014/main" id="{B455E4A2-DB56-1C79-799B-9AF310F4E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587" y="1815838"/>
                <a:ext cx="8124825" cy="29675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コンテンツ プレースホルダー 2">
                <a:extLst>
                  <a:ext uri="{FF2B5EF4-FFF2-40B4-BE49-F238E27FC236}">
                    <a16:creationId xmlns:a16="http://schemas.microsoft.com/office/drawing/2014/main" id="{F728CCB0-9719-6D4D-1E8B-28136C512A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422" y="4745316"/>
                <a:ext cx="11977456" cy="9212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kumimoji="1" sz="2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bar>
                  </m:oMath>
                </a14:m>
                <a:r>
                  <a:rPr lang="en-US" altLang="ja-JP" sz="2400" dirty="0"/>
                  <a:t>: “Scheduler” for DDPM diffusion models,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400">
                            <a:latin typeface="Cambria Math" panose="02040503050406030204" pitchFamily="18" charset="0"/>
                          </a:rPr>
                          <m:t>VP</m:t>
                        </m:r>
                      </m:sub>
                    </m:sSub>
                  </m:oMath>
                </a14:m>
                <a:r>
                  <a:rPr lang="en-US" altLang="ja-JP" sz="2400" dirty="0"/>
                  <a:t>: noise’s standard deviation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κ</m:t>
                    </m:r>
                  </m:oMath>
                </a14:m>
                <a:r>
                  <a:rPr lang="en-US" altLang="ja-JP" sz="2400" dirty="0"/>
                  <a:t>: Scaling constant for MC rendering image</a:t>
                </a:r>
                <a:endParaRPr lang="ja-JP" altLang="en-US" sz="2400" dirty="0"/>
              </a:p>
            </p:txBody>
          </p:sp>
        </mc:Choice>
        <mc:Fallback>
          <p:sp>
            <p:nvSpPr>
              <p:cNvPr id="14" name="コンテンツ プレースホルダー 2">
                <a:extLst>
                  <a:ext uri="{FF2B5EF4-FFF2-40B4-BE49-F238E27FC236}">
                    <a16:creationId xmlns:a16="http://schemas.microsoft.com/office/drawing/2014/main" id="{F728CCB0-9719-6D4D-1E8B-28136C512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22" y="4745316"/>
                <a:ext cx="11977456" cy="921273"/>
              </a:xfrm>
              <a:prstGeom prst="rect">
                <a:avLst/>
              </a:prstGeom>
              <a:blipFill>
                <a:blip r:embed="rId4"/>
                <a:stretch>
                  <a:fillRect l="-712" t="-9211" b="-98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矢印: 下 14">
            <a:extLst>
              <a:ext uri="{FF2B5EF4-FFF2-40B4-BE49-F238E27FC236}">
                <a16:creationId xmlns:a16="http://schemas.microsoft.com/office/drawing/2014/main" id="{0B1A4302-1C53-664E-396C-646ECA5C7237}"/>
              </a:ext>
            </a:extLst>
          </p:cNvPr>
          <p:cNvSpPr/>
          <p:nvPr/>
        </p:nvSpPr>
        <p:spPr>
          <a:xfrm>
            <a:off x="5957886" y="5685639"/>
            <a:ext cx="276226" cy="20955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コンテンツ プレースホルダー 2">
                <a:extLst>
                  <a:ext uri="{FF2B5EF4-FFF2-40B4-BE49-F238E27FC236}">
                    <a16:creationId xmlns:a16="http://schemas.microsoft.com/office/drawing/2014/main" id="{C759F05A-3674-3DD6-A378-48F85E7038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8293" y="5937210"/>
                <a:ext cx="9015412" cy="6887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kumimoji="1" sz="2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altLang="ja-JP" sz="2400" dirty="0"/>
                  <a:t>Final time mapping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*(</m:t>
                    </m:r>
                    <m:r>
                      <m:rPr>
                        <m:sty m:val="p"/>
                      </m:rPr>
                      <a:rPr lang="en-US" altLang="ja-JP" sz="2400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 =</m:t>
                    </m:r>
                    <m:sSubSup>
                      <m:sSub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𝑑𝑖𝑓𝑓</m:t>
                        </m:r>
                      </m:sub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(-2</m:t>
                    </m:r>
                    <m:r>
                      <m:rPr>
                        <m:sty m:val="p"/>
                      </m:rPr>
                      <a:rPr lang="en-US" altLang="ja-JP" sz="2400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ja-JP" sz="2400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 + (</m:t>
                    </m:r>
                    <m:r>
                      <m:rPr>
                        <m:sty m:val="p"/>
                      </m:rPr>
                      <a:rPr lang="en-US" altLang="ja-JP" sz="2400" b="0" i="1" smtClean="0">
                        <a:latin typeface="Cambria Math" panose="02040503050406030204" pitchFamily="18" charset="0"/>
                      </a:rPr>
                      <m:t>logκ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 - </m:t>
                    </m:r>
                    <m:r>
                      <m:rPr>
                        <m:sty m:val="p"/>
                      </m:rPr>
                      <a:rPr lang="en-US" altLang="ja-JP" sz="2400" b="0" i="1" smtClean="0">
                        <a:latin typeface="Cambria Math" panose="02040503050406030204" pitchFamily="18" charset="0"/>
                      </a:rPr>
                      <m:t>log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ja-JP" altLang="en-US" sz="2400" dirty="0"/>
              </a:p>
            </p:txBody>
          </p:sp>
        </mc:Choice>
        <mc:Fallback>
          <p:sp>
            <p:nvSpPr>
              <p:cNvPr id="16" name="コンテンツ プレースホルダー 2">
                <a:extLst>
                  <a:ext uri="{FF2B5EF4-FFF2-40B4-BE49-F238E27FC236}">
                    <a16:creationId xmlns:a16="http://schemas.microsoft.com/office/drawing/2014/main" id="{C759F05A-3674-3DD6-A378-48F85E703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293" y="5937210"/>
                <a:ext cx="9015412" cy="6887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161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87C4F-BA12-57B6-2180-86E9B6EC8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23713D-D6EA-522A-1B39-4BF56F906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Adapter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B2EA7D-FFC1-3E50-3518-7B3881565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22" y="1355202"/>
            <a:ext cx="11977456" cy="921273"/>
          </a:xfrm>
        </p:spPr>
        <p:txBody>
          <a:bodyPr>
            <a:normAutofit/>
          </a:bodyPr>
          <a:lstStyle/>
          <a:p>
            <a:r>
              <a:rPr lang="en-US" altLang="ja-JP" dirty="0"/>
              <a:t>In reality, the distribution of MC noise </a:t>
            </a:r>
            <a:r>
              <a:rPr lang="en-US" altLang="ja-JP" b="1" dirty="0"/>
              <a:t>does not follow a Gaussian</a:t>
            </a:r>
            <a:br>
              <a:rPr lang="en-US" altLang="ja-JP" b="1" dirty="0"/>
            </a:br>
            <a:r>
              <a:rPr lang="en-US" altLang="ja-JP" b="1" dirty="0"/>
              <a:t>→ Adjust the scale and shift of feature maps </a:t>
            </a:r>
            <a:r>
              <a:rPr lang="en-US" altLang="ja-JP" dirty="0"/>
              <a:t>using lightweight CNNs (</a:t>
            </a:r>
            <a:r>
              <a:rPr lang="en-US" altLang="ja-JP" dirty="0" err="1"/>
              <a:t>FiLM</a:t>
            </a:r>
            <a:r>
              <a:rPr lang="en-US" altLang="ja-JP" dirty="0"/>
              <a:t>)</a:t>
            </a:r>
            <a:endParaRPr kumimoji="1" lang="ja-JP" altLang="en-US" sz="2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3F420C-6E91-B054-C638-D2CA61AF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7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AFE3A315-38E2-0E5B-872C-7DA1003345CE}"/>
              </a:ext>
            </a:extLst>
          </p:cNvPr>
          <p:cNvSpPr txBox="1">
            <a:spLocks/>
          </p:cNvSpPr>
          <p:nvPr/>
        </p:nvSpPr>
        <p:spPr>
          <a:xfrm>
            <a:off x="164422" y="2478737"/>
            <a:ext cx="11977456" cy="1245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u="sng" dirty="0" err="1"/>
              <a:t>FiLM</a:t>
            </a:r>
            <a:r>
              <a:rPr lang="en-US" altLang="ja-JP" u="sng" dirty="0"/>
              <a:t> (Feature-wise Linear Modulation)</a:t>
            </a:r>
            <a:r>
              <a:rPr lang="en-US" altLang="ja-JP" dirty="0"/>
              <a:t>:</a:t>
            </a:r>
            <a:br>
              <a:rPr lang="en-US" altLang="ja-JP" dirty="0"/>
            </a:br>
            <a:r>
              <a:rPr lang="en-US" altLang="ja-JP" dirty="0"/>
              <a:t>applies modulation to the output of a neural network </a:t>
            </a:r>
            <a:br>
              <a:rPr lang="en-US" altLang="ja-JP" dirty="0"/>
            </a:br>
            <a:r>
              <a:rPr lang="en-US" altLang="ja-JP" dirty="0"/>
              <a:t>by performing a </a:t>
            </a:r>
            <a:r>
              <a:rPr lang="en-US" altLang="ja-JP" b="1" dirty="0"/>
              <a:t>linear transformation on its features </a:t>
            </a:r>
            <a:endParaRPr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75290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607</Words>
  <Application>Microsoft Office PowerPoint</Application>
  <PresentationFormat>ワイド画面</PresentationFormat>
  <Paragraphs>54</Paragraphs>
  <Slides>7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7</vt:i4>
      </vt:variant>
    </vt:vector>
  </HeadingPairs>
  <TitlesOfParts>
    <vt:vector size="16" baseType="lpstr">
      <vt:lpstr>メイリオ</vt:lpstr>
      <vt:lpstr>游ゴシック</vt:lpstr>
      <vt:lpstr>游ゴシック Light</vt:lpstr>
      <vt:lpstr>Arial</vt:lpstr>
      <vt:lpstr>Calibri</vt:lpstr>
      <vt:lpstr>Cambria Math</vt:lpstr>
      <vt:lpstr>Office テーマ</vt:lpstr>
      <vt:lpstr>2_Office テーマ</vt:lpstr>
      <vt:lpstr>1_Office テーマ</vt:lpstr>
      <vt:lpstr>Bridging Physically Based Rendering and Diffusion Models   with Stochastic Differential Equation</vt:lpstr>
      <vt:lpstr>Introduction</vt:lpstr>
      <vt:lpstr>Background</vt:lpstr>
      <vt:lpstr>Overview</vt:lpstr>
      <vt:lpstr>Deriving MC-SDE (roughly)</vt:lpstr>
      <vt:lpstr>Time mapping</vt:lpstr>
      <vt:lpstr>Adapter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cdua3660</dc:creator>
  <cp:lastModifiedBy>cdua3660</cp:lastModifiedBy>
  <cp:revision>3</cp:revision>
  <dcterms:created xsi:type="dcterms:W3CDTF">2026-03-03T06:02:21Z</dcterms:created>
  <dcterms:modified xsi:type="dcterms:W3CDTF">2026-03-03T14:51:27Z</dcterms:modified>
</cp:coreProperties>
</file>