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8"/>
  </p:notesMasterIdLst>
  <p:sldIdLst>
    <p:sldId id="256" r:id="rId3"/>
    <p:sldId id="257" r:id="rId4"/>
    <p:sldId id="258" r:id="rId5"/>
    <p:sldId id="259" r:id="rId6"/>
    <p:sldId id="260" r:id="rId7"/>
    <p:sldId id="262" r:id="rId8"/>
    <p:sldId id="269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61" r:id="rId1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93D133-823F-4F52-B028-FA93482B56DD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1E76F5-FAB2-45A2-8417-DD395D25C1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735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915602-D879-47AA-87B2-BF4B4E6ECEB8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110004020202020204"/>
                <a:ea typeface="游ゴシック" panose="020B0400000000000000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游ゴシック" panose="020B0400000000000000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3451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5DAF3D-9742-70CC-B5D5-08F8FFD486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171A407-9E6B-2A43-4D1D-9B1C70E9F7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C68859A-682E-2B67-EAD7-A83558EC7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1D04C-D4F9-452A-B906-F9D2E05F382E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CE2F25C-13AE-084B-0D40-76C4F9EE1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F05614A-2838-5101-D5A7-46EAD9E35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BC22-2160-4AE2-920B-2C149BE4B8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1755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D2C7DB-8FC6-82D7-94EB-551B58CA6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4A673C-8E04-D493-2854-8995C7238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8DCF9EE-14B9-7872-131C-157B2878E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1D04C-D4F9-452A-B906-F9D2E05F382E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AE63007-8F05-13EA-9293-0A3BC5EEF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CE738B5-7CF2-AAF9-DF98-253978BC7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BC22-2160-4AE2-920B-2C149BE4B8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9267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BAFEC1-3614-0211-44F4-EB9A8A3E0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9192FFE-A6AE-BD9C-63CD-F4A6EAA7F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21F1079-DAA8-4C43-30A9-B2ECC1A8E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1D04C-D4F9-452A-B906-F9D2E05F382E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AD31A0C-D1E5-C561-0958-C0DAAD789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272EBA1-7194-4D6C-D85E-D4CA4B94D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BC22-2160-4AE2-920B-2C149BE4B8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2664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94470C-1E83-BE3A-8C41-79E5ED349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05DA193-14DE-792E-C559-B932945B8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D1BB2B2-E470-3540-8310-0158FE57A4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93AD270-6FD4-A516-CA80-D493179F3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1D04C-D4F9-452A-B906-F9D2E05F382E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3008050-EA73-F44A-6E2E-ADB1F3723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F7192ED-A3A8-DBD3-0BDE-941DB2E38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BC22-2160-4AE2-920B-2C149BE4B8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448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9C4415-6A39-3B07-6877-C720926FD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72FD3D4-5E0E-181C-122C-DE2D40D228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C17E708-05D6-4334-3ABE-75816F950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0E1B1A8-52C9-30C1-146D-71EB5945DB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14BBA87-19EF-2208-70CD-8E4DD7A37B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D2C7FD6-988F-8ECA-7BD1-ABA72004B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1D04C-D4F9-452A-B906-F9D2E05F382E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A0A67F0-7EA3-20E8-7B8F-094630A2F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21D546E-07AA-C9F3-B391-D888CE8DA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BC22-2160-4AE2-920B-2C149BE4B8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7627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782F8D-9809-E029-B465-CBB89BEC8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3479C9E-640E-5AA9-FE24-EDD37369F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1D04C-D4F9-452A-B906-F9D2E05F382E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8A593AD-2415-B3D3-F271-3C26EA793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E3F4D48-325A-5927-2AD9-56EDD07F7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BC22-2160-4AE2-920B-2C149BE4B8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1615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E09B4E4-CAE7-EBF8-AC34-0D3B60DFB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1D04C-D4F9-452A-B906-F9D2E05F382E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5982182-3FC5-BD7F-D21C-9D448EEAC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D584507-42BD-13FD-7244-B3734B839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BC22-2160-4AE2-920B-2C149BE4B8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9686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13E30D-9A48-AC96-359B-6149515FE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97F29F7-4997-B88A-7C8A-220A9C694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EA56CAD-ED2E-29F8-A020-B5883C2340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3648B72-E7BB-B8F5-2025-36A248C00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1D04C-D4F9-452A-B906-F9D2E05F382E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A596C9F-567E-1594-7D3F-7AA42787A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F5C233A-F417-D5CF-0D41-79C0FC15A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BC22-2160-4AE2-920B-2C149BE4B8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6374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2FDA0F-0757-F759-8CC8-8DC05D15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2AFD5E6-FB1E-2BA0-0A9A-8775F46605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93A013E-459D-0A9B-8824-F51375DF15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7B1330E-D820-DDA6-B725-2F01CBD1F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1D04C-D4F9-452A-B906-F9D2E05F382E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A15297D-28F4-BBEC-C0A0-BA0224801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523A9FF-3265-7DC7-3F1A-44CBD8869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BC22-2160-4AE2-920B-2C149BE4B8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4672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78C331-8818-64F6-EF00-E2A0F709D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5573D0E-2611-20CE-3D32-927F27E575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FCA2252-58BF-54B6-D756-D3B125B25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1D04C-D4F9-452A-B906-F9D2E05F382E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B7AB5F7-FCC7-B65B-DA9B-FEC6FD95F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7739F15-EE60-EFAA-87E8-B1A8C6087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BC22-2160-4AE2-920B-2C149BE4B8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8339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EFA7E57-E404-EE9D-944B-C320502285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76D6AE9-60A6-373A-5165-242318F5D8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69B8474-33EA-3232-1156-F02C50094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1D04C-D4F9-452A-B906-F9D2E05F382E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C5AC887-CA15-11E1-0AA3-7E797811F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F21C823-4A40-4E6C-3E0D-836A52DEA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BC22-2160-4AE2-920B-2C149BE4B8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40829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90229D-1AAE-23C3-D731-6E33594AF0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ACC9E4D-C679-20D4-A68B-BB01BFE4EF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223BD44-A349-A67D-CC84-84EE83551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6B395-6D35-4546-B294-FB06DF790840}" type="datetime1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FC3268-3A36-FF66-9F9B-F0D68E949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レイトレ合宿 </a:t>
            </a:r>
            <a:r>
              <a:rPr kumimoji="1" lang="en-US" altLang="ja-JP"/>
              <a:t>11: Path for learning path tracing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9C8C504-D315-A73F-87E2-EC1C1391A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42119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7B5B46B-D538-9F28-1BAB-776621FB7DCE}"/>
              </a:ext>
            </a:extLst>
          </p:cNvPr>
          <p:cNvSpPr/>
          <p:nvPr userDrawn="1"/>
        </p:nvSpPr>
        <p:spPr>
          <a:xfrm>
            <a:off x="-2" y="0"/>
            <a:ext cx="12192003" cy="1152939"/>
          </a:xfrm>
          <a:prstGeom prst="rect">
            <a:avLst/>
          </a:prstGeom>
          <a:solidFill>
            <a:srgbClr val="00A0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F98BBE0-1D24-6AF2-BA3E-DEC5B2EA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435" y="103396"/>
            <a:ext cx="10180982" cy="1049544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20958A4-90D3-D377-2532-7815EE904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435" y="1362073"/>
            <a:ext cx="11463130" cy="5142244"/>
          </a:xfr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CFEE3AD-6384-1102-FA25-169C7E511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45417" y="498474"/>
            <a:ext cx="1282148" cy="365125"/>
          </a:xfrm>
        </p:spPr>
        <p:txBody>
          <a:bodyPr/>
          <a:lstStyle>
            <a:lvl1pPr>
              <a:defRPr sz="1600" b="1">
                <a:solidFill>
                  <a:schemeClr val="bg1"/>
                </a:solidFill>
                <a:latin typeface="Calibri" panose="020F0502020204030204" pitchFamily="34" charset="0"/>
                <a:ea typeface="メイリオ" panose="020B0604030504040204" pitchFamily="50" charset="-128"/>
                <a:cs typeface="Calibri" panose="020F0502020204030204" pitchFamily="34" charset="0"/>
              </a:defRPr>
            </a:lvl1pPr>
          </a:lstStyle>
          <a:p>
            <a:fld id="{05A07A33-D779-4A79-A49C-E26576C728D8}" type="slidenum">
              <a:rPr lang="ja-JP" altLang="en-US" smtClean="0"/>
              <a:pPr/>
              <a:t>‹#›</a:t>
            </a:fld>
            <a:endParaRPr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82684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B65609-816B-F3A5-0E11-D93991D1B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58370C4-257B-3C4F-5395-CDB15242A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9AA511D-EECC-C7A8-E4FB-717F75E6A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7B2B4-6A7D-4731-81DC-57610CFA3027}" type="datetime1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0E045EB-6D29-58E9-4C99-D37BDE89F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レイトレ合宿 </a:t>
            </a:r>
            <a:r>
              <a:rPr kumimoji="1" lang="en-US" altLang="ja-JP"/>
              <a:t>11: Path for learning path tracing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70C11A9-189C-8F74-825F-259D6A344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49356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3E7D78-BD6B-702B-0C26-E6FB22E64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24D09B3-2284-F6A2-61D4-55188354DA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1A4F18B-2983-FE73-CA75-7277C6FFF6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B615006-2C2A-B7DB-BFD8-2CC016D1C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036F0-5381-44E0-A015-CBD42EDBEC45}" type="datetime1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2D2A2BD-5053-3A14-0200-1E1D3B7EE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レイトレ合宿 </a:t>
            </a:r>
            <a:r>
              <a:rPr kumimoji="1" lang="en-US" altLang="ja-JP"/>
              <a:t>11: Path for learning path tracing</a:t>
            </a:r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27725B0-D83E-B435-EC98-68AB5356A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80838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9BB6A3-E49B-4A25-31D2-6C4C26A04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447744B-9E5C-AD56-235B-7330E6DBC9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4209C14-BC8C-006A-AB8B-FDA2D2C2E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2C4FFED-2590-A032-C05B-30B0DB3829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CC203FD-43B8-2B27-9FFA-87C9691E03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3B82B8D-6EC8-4981-B43E-B18107332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A4E38-B061-47C5-9F79-5A9746F5CDE5}" type="datetime1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1354467-2611-8398-CB42-5D5D4B7E5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レイトレ合宿 </a:t>
            </a:r>
            <a:r>
              <a:rPr kumimoji="1" lang="en-US" altLang="ja-JP"/>
              <a:t>11: Path for learning path tracing</a:t>
            </a:r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555924B-DBA2-FAAF-3DD7-FCCA9E7EA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03093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8C1315-F32B-A950-F131-ECD20BB29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32C97CF-05CD-199A-D125-F569079C2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71810-0526-4256-939F-2D28DFA5615F}" type="datetime1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CF4DEED-584B-DE91-1508-81AADA0E0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レイトレ合宿 </a:t>
            </a:r>
            <a:r>
              <a:rPr kumimoji="1" lang="en-US" altLang="ja-JP"/>
              <a:t>11: Path for learning path tracing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EE76772-54C3-7DF2-17AB-C300B79FC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96288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B502009-8781-63CF-4E49-A748A3CBD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D8516-8AC0-44E8-AB68-6CE99A3A52CB}" type="datetime1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78A615B-DDC1-4BEA-BF54-84D5815F9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レイトレ合宿 </a:t>
            </a:r>
            <a:r>
              <a:rPr kumimoji="1" lang="en-US" altLang="ja-JP"/>
              <a:t>11: Path for learning path tracing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BDD3BAC-E9E5-A042-7625-72FD4B3A8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6122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594083-007D-C0E5-105B-B9BDC38C7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693EA66-CF2C-F1B1-55B0-E9D74BD5D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08BB23F-C1B2-86C8-B700-93C5C57B42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0591688-2CF2-0933-EF96-FF80191D5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A23C2-F706-4F84-B465-CA89DAFBC4C2}" type="datetime1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DAC11D5-2BFC-6618-B6F6-1EA0F6CC3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レイトレ合宿 </a:t>
            </a:r>
            <a:r>
              <a:rPr kumimoji="1" lang="en-US" altLang="ja-JP"/>
              <a:t>11: Path for learning path tracing</a:t>
            </a:r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2045EE5-4001-E842-C578-A1E3CE662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02867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C45C0F-3E00-9F4E-441B-144DB0BAB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6FA0BF3-F917-1AB2-FCD7-E59445CF3A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52EF50C-84FE-E1EE-8DF6-F00C88242B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9536BB8-2CCA-AA96-A538-9C067E41E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2DFBC-01E8-4E3B-A4B2-3042EC8BF00A}" type="datetime1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5226345-B282-E89A-31F7-401862084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レイトレ合宿 </a:t>
            </a:r>
            <a:r>
              <a:rPr kumimoji="1" lang="en-US" altLang="ja-JP"/>
              <a:t>11: Path for learning path tracing</a:t>
            </a:r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ED61155-9EE3-F69F-9D2A-5E0E0C1EA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93380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9AC9BE-7FE8-E0F1-115C-16E5E520C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D991C54-8DCC-6DDF-D1AE-1705247D27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590026C-89ED-EE59-601D-3137F6D08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96C80-74FC-4B1B-8EAB-5BA2D3324131}" type="datetime1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130E05B-BAEF-6834-295E-043BBD101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レイトレ合宿 </a:t>
            </a:r>
            <a:r>
              <a:rPr kumimoji="1" lang="en-US" altLang="ja-JP"/>
              <a:t>11: Path for learning path tracing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C715A68-9B4A-0236-BFE7-F0158F796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87851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4D3E743-F543-A358-D861-CD1B1846FE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A4A9749-C092-AA1E-E5A8-6748EBEB7D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DDE97B5-8B6A-ED3D-4633-9D506EBA8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F111B-B7F2-4AFA-B2AD-22DD0AE2FAAF}" type="datetime1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1BAD804-F7E6-10ED-5AC0-E8C291FA5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レイトレ合宿 </a:t>
            </a:r>
            <a:r>
              <a:rPr kumimoji="1" lang="en-US" altLang="ja-JP"/>
              <a:t>11: Path for learning path tracing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2C11A4F-2CCE-5D35-F2F8-37586AC46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5918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0F23B40-AF60-F183-453D-14035E900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B8F1BF0-9187-B07A-CFC4-ABD8163B17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5239560-5BE3-81F3-683C-1B4BFDAE90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B1D04C-D4F9-452A-B906-F9D2E05F382E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9EAABC4-8861-B5F0-99F6-2CB8E61F39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E939E65-6971-40F0-D228-3FE0F6E8DB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E0BC22-2160-4AE2-920B-2C149BE4B8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246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8498D93-6DD1-B239-0B11-3E556FCE7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F54FB8A-93DB-9C63-DBB9-2F0A2C28AB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0D75F5C-F0D0-7513-DDCB-FF42637AA0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27487B-C611-4154-9D77-DC08D179CD6C}" type="datetime1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00C3DBE-DDCE-835B-650E-67278796B4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kumimoji="1" lang="ja-JP" altLang="en-US"/>
              <a:t>レイトレ合宿 </a:t>
            </a:r>
            <a:r>
              <a:rPr kumimoji="1" lang="en-US" altLang="ja-JP"/>
              <a:t>11: Path for learning path tracing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15F1F78-12E9-38EC-5F22-BDF80CFCB2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A07A33-D779-4A79-A49C-E26576C728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353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figure/llustration-of-photon-mapping-a-Light-sources-send-out-energy-as-photons-b-a_fig7_317224001" TargetMode="External"/><Relationship Id="rId2" Type="http://schemas.openxmlformats.org/officeDocument/2006/relationships/hyperlink" Target="https://www.semanticscholar.org/paper/Bidirectional-Path-Tracing-Vlnas/c9662ee171e68a08600203e975b4c04c770c2598" TargetMode="Externa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iliyan.com/publications/ImplementingVCM/ImplementingVCM_TechRep2012_rev2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AA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FE5457-854A-AFD8-5368-B79611CE04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329638"/>
            <a:ext cx="12192000" cy="1448352"/>
          </a:xfrm>
        </p:spPr>
        <p:txBody>
          <a:bodyPr>
            <a:normAutofit/>
          </a:bodyPr>
          <a:lstStyle/>
          <a:p>
            <a:r>
              <a:rPr lang="en-US" altLang="ja-JP" sz="3600" b="1" dirty="0">
                <a:solidFill>
                  <a:schemeClr val="bg1"/>
                </a:solidFill>
                <a:latin typeface="Calibri" panose="020F0502020204030204" pitchFamily="34" charset="0"/>
                <a:ea typeface="メイリオ" panose="020B0604030504040204" pitchFamily="50" charset="-128"/>
                <a:cs typeface="Calibri" panose="020F0502020204030204" pitchFamily="34" charset="0"/>
              </a:rPr>
              <a:t>Light Transport Simulation with </a:t>
            </a:r>
            <a:br>
              <a:rPr lang="en-US" altLang="ja-JP" sz="3600" b="1" dirty="0">
                <a:solidFill>
                  <a:schemeClr val="bg1"/>
                </a:solidFill>
                <a:latin typeface="Calibri" panose="020F0502020204030204" pitchFamily="34" charset="0"/>
                <a:ea typeface="メイリオ" panose="020B0604030504040204" pitchFamily="50" charset="-128"/>
                <a:cs typeface="Calibri" panose="020F0502020204030204" pitchFamily="34" charset="0"/>
              </a:rPr>
            </a:br>
            <a:r>
              <a:rPr lang="en-US" altLang="ja-JP" sz="3600" b="1" dirty="0">
                <a:solidFill>
                  <a:schemeClr val="bg1"/>
                </a:solidFill>
                <a:latin typeface="Calibri" panose="020F0502020204030204" pitchFamily="34" charset="0"/>
                <a:ea typeface="メイリオ" panose="020B0604030504040204" pitchFamily="50" charset="-128"/>
                <a:cs typeface="Calibri" panose="020F0502020204030204" pitchFamily="34" charset="0"/>
              </a:rPr>
              <a:t>Vertex Connection and Merging</a:t>
            </a:r>
            <a:endParaRPr kumimoji="1" lang="ja-JP" altLang="en-US" sz="3600" b="1" dirty="0">
              <a:solidFill>
                <a:schemeClr val="bg1"/>
              </a:solidFill>
              <a:latin typeface="Calibri" panose="020F0502020204030204" pitchFamily="34" charset="0"/>
              <a:ea typeface="メイリオ" panose="020B0604030504040204" pitchFamily="50" charset="-128"/>
              <a:cs typeface="Calibri" panose="020F0502020204030204" pitchFamily="34" charset="0"/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682A2F0-031E-BF64-21A5-A74774A0CF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7" y="5875710"/>
            <a:ext cx="9144000" cy="448469"/>
          </a:xfrm>
        </p:spPr>
        <p:txBody>
          <a:bodyPr>
            <a:normAutofit/>
          </a:bodyPr>
          <a:lstStyle/>
          <a:p>
            <a:r>
              <a:rPr lang="en-US" altLang="ja-JP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ichi-raven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644B2F1-B6AE-E373-B034-FD1371BAF358}"/>
              </a:ext>
            </a:extLst>
          </p:cNvPr>
          <p:cNvSpPr txBox="1"/>
          <p:nvPr/>
        </p:nvSpPr>
        <p:spPr>
          <a:xfrm>
            <a:off x="3047995" y="43223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メイリオ" panose="020B0604030504040204" pitchFamily="50" charset="-128"/>
                <a:cs typeface="Calibri" panose="020F0502020204030204" pitchFamily="34" charset="0"/>
              </a:rPr>
              <a:t>Paper introduction</a:t>
            </a:r>
            <a:endParaRPr kumimoji="1" lang="ja-JP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0FC0E44-5F04-C06A-B1D2-D7D4782F2EC1}"/>
              </a:ext>
            </a:extLst>
          </p:cNvPr>
          <p:cNvSpPr txBox="1"/>
          <p:nvPr/>
        </p:nvSpPr>
        <p:spPr>
          <a:xfrm>
            <a:off x="1364809" y="3100523"/>
            <a:ext cx="946237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Iliyan Georgiev*1, Jaroslav Křivánek*2, Tomáš </a:t>
            </a:r>
            <a:r>
              <a:rPr kumimoji="1" lang="en-US" altLang="ja-JP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Davidovič</a:t>
            </a: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*13, and Philipp </a:t>
            </a:r>
            <a:r>
              <a:rPr kumimoji="1" lang="en-US" altLang="ja-JP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Slusalle</a:t>
            </a: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*14</a:t>
            </a:r>
            <a:b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</a:br>
            <a:endParaRPr kumimoji="1" lang="en-US" altLang="ja-JP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游ゴシック" panose="020B0400000000000000" pitchFamily="50" charset="-128"/>
              <a:cs typeface="Calibri" panose="020F0502020204030204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2000" dirty="0">
                <a:solidFill>
                  <a:prstClr val="white"/>
                </a:solidFill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*1:</a:t>
            </a:r>
            <a:r>
              <a:rPr lang="ja-JP" altLang="en-US" sz="2000" dirty="0">
                <a:solidFill>
                  <a:prstClr val="white"/>
                </a:solidFill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 </a:t>
            </a:r>
            <a:r>
              <a:rPr lang="en-US" altLang="ja-JP" sz="2000" dirty="0">
                <a:solidFill>
                  <a:prstClr val="white"/>
                </a:solidFill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Saarland University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2000" dirty="0">
                <a:solidFill>
                  <a:prstClr val="white"/>
                </a:solidFill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*2: Charles University, Prague</a:t>
            </a:r>
          </a:p>
          <a:p>
            <a:pPr lvl="0"/>
            <a:r>
              <a:rPr lang="en-US" altLang="ja-JP" sz="2000" dirty="0">
                <a:solidFill>
                  <a:prstClr val="white"/>
                </a:solidFill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*3: Intel VCI</a:t>
            </a:r>
            <a:r>
              <a:rPr lang="en-US" altLang="ja-JP" sz="2000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ja-JP" sz="2000" dirty="0" err="1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Saarbrücken</a:t>
            </a:r>
            <a:endParaRPr lang="en-US" altLang="ja-JP" sz="2000" dirty="0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altLang="ja-JP" sz="2000" dirty="0">
                <a:solidFill>
                  <a:prstClr val="white"/>
                </a:solidFill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*4: </a:t>
            </a:r>
            <a:r>
              <a:rPr lang="en-US" altLang="ja-JP" sz="2000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Intel VCI &amp; DFKI, </a:t>
            </a:r>
            <a:r>
              <a:rPr lang="en-US" altLang="ja-JP" sz="2000" dirty="0" err="1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Saarbrücken</a:t>
            </a:r>
            <a:endParaRPr lang="en-US" altLang="ja-JP" sz="2000" dirty="0">
              <a:solidFill>
                <a:prstClr val="white"/>
              </a:solidFill>
              <a:latin typeface="Calibri" panose="020F0502020204030204" pitchFamily="34" charset="0"/>
              <a:ea typeface="游ゴシック" panose="020B0400000000000000" pitchFamily="50" charset="-128"/>
              <a:cs typeface="Calibri" panose="020F0502020204030204" pitchFamily="34" charset="0"/>
            </a:endParaRPr>
          </a:p>
        </p:txBody>
      </p:sp>
      <p:sp>
        <p:nvSpPr>
          <p:cNvPr id="8" name="字幕 2">
            <a:extLst>
              <a:ext uri="{FF2B5EF4-FFF2-40B4-BE49-F238E27FC236}">
                <a16:creationId xmlns:a16="http://schemas.microsoft.com/office/drawing/2014/main" id="{0DE0B71C-734D-A5F0-7321-9212784A6B25}"/>
              </a:ext>
            </a:extLst>
          </p:cNvPr>
          <p:cNvSpPr txBox="1">
            <a:spLocks/>
          </p:cNvSpPr>
          <p:nvPr/>
        </p:nvSpPr>
        <p:spPr>
          <a:xfrm>
            <a:off x="1523997" y="5362048"/>
            <a:ext cx="9144000" cy="4484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ACM </a:t>
            </a:r>
            <a:r>
              <a:rPr kumimoji="1" lang="en-US" altLang="ja-JP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ToG</a:t>
            </a:r>
            <a:r>
              <a:rPr kumimoji="1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Vol. 31, No.6  SIGGRAPH Asia 2012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F9D4111-7D15-8E89-F1A8-F8B9FE4125C4}"/>
              </a:ext>
            </a:extLst>
          </p:cNvPr>
          <p:cNvSpPr txBox="1"/>
          <p:nvPr/>
        </p:nvSpPr>
        <p:spPr>
          <a:xfrm>
            <a:off x="4352925" y="6455584"/>
            <a:ext cx="77827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 All figures without annotation in this slide are quoted from the same paper</a:t>
            </a: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游ゴシック" panose="020B0400000000000000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398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3284C3-A3DC-263F-2D40-BABC2BDB1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Introduction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438A6-7BF3-8835-F233-2855C7F36C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Robust light transport simulation integrating </a:t>
            </a:r>
            <a:br>
              <a:rPr lang="en-US" altLang="ja-JP" dirty="0"/>
            </a:br>
            <a:r>
              <a:rPr lang="en-US" altLang="ja-JP" dirty="0"/>
              <a:t>- </a:t>
            </a:r>
            <a:r>
              <a:rPr lang="en-US" altLang="ja-JP" b="1" dirty="0"/>
              <a:t>Bidirectional path tracing (BPT)</a:t>
            </a:r>
            <a:br>
              <a:rPr lang="en-US" altLang="ja-JP" dirty="0"/>
            </a:br>
            <a:r>
              <a:rPr lang="en-US" altLang="ja-JP" dirty="0"/>
              <a:t>- </a:t>
            </a:r>
            <a:r>
              <a:rPr lang="en-US" altLang="ja-JP" b="1" dirty="0"/>
              <a:t>(Progressive) Photon mapping (PPM)</a:t>
            </a:r>
            <a:endParaRPr kumimoji="1" lang="ja-JP" altLang="en-US" b="1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5C9DDA0-DC27-11B6-A399-5B5243675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lang="ja-JP" altLang="en-US" smtClean="0"/>
              <a:pPr/>
              <a:t>2</a:t>
            </a:fld>
            <a:endParaRPr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DFFE7207-7ABF-A8ED-812E-76D42ED79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354" y="2673225"/>
            <a:ext cx="10759291" cy="3764417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B1360E4-BED2-E39D-502A-3ED512B675A5}"/>
              </a:ext>
            </a:extLst>
          </p:cNvPr>
          <p:cNvSpPr/>
          <p:nvPr/>
        </p:nvSpPr>
        <p:spPr>
          <a:xfrm>
            <a:off x="6095999" y="2673225"/>
            <a:ext cx="2705101" cy="376441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FDEC7E9-66DA-4E0B-331A-DF817494E0E2}"/>
              </a:ext>
            </a:extLst>
          </p:cNvPr>
          <p:cNvSpPr txBox="1"/>
          <p:nvPr/>
        </p:nvSpPr>
        <p:spPr>
          <a:xfrm>
            <a:off x="4300536" y="6447167"/>
            <a:ext cx="3590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Teaser image</a:t>
            </a:r>
            <a:endParaRPr kumimoji="1"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8308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65341-075C-22C1-E617-E75659043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PDF] Bidirectional Path Tracing | Semantic Scholar">
            <a:extLst>
              <a:ext uri="{FF2B5EF4-FFF2-40B4-BE49-F238E27FC236}">
                <a16:creationId xmlns:a16="http://schemas.microsoft.com/office/drawing/2014/main" id="{CBD6611A-27F3-F6A1-4B86-7C5600E2E5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136"/>
          <a:stretch>
            <a:fillRect/>
          </a:stretch>
        </p:blipFill>
        <p:spPr bwMode="auto">
          <a:xfrm>
            <a:off x="5707578" y="3320743"/>
            <a:ext cx="6119986" cy="2894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7F5F4E9D-5689-CF8A-DF69-A59A80AB3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Background: BPT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857923A-63F2-32A4-CEDC-A13261EC0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Path tracing is always suffering from MC noise…</a:t>
            </a:r>
            <a:br>
              <a:rPr lang="en-US" altLang="ja-JP" dirty="0"/>
            </a:br>
            <a:r>
              <a:rPr lang="ja-JP" altLang="en-US" dirty="0"/>
              <a:t>→ </a:t>
            </a:r>
            <a:r>
              <a:rPr lang="en-US" altLang="ja-JP" dirty="0"/>
              <a:t>Various methods have been proposed, like </a:t>
            </a:r>
            <a:r>
              <a:rPr lang="en-US" altLang="ja-JP" b="1" dirty="0"/>
              <a:t>BPT</a:t>
            </a:r>
            <a:r>
              <a:rPr lang="en-US" altLang="ja-JP" dirty="0"/>
              <a:t>, </a:t>
            </a:r>
            <a:r>
              <a:rPr lang="en-US" altLang="ja-JP" b="1" dirty="0"/>
              <a:t>PPM</a:t>
            </a:r>
            <a:r>
              <a:rPr lang="en-US" altLang="ja-JP" dirty="0"/>
              <a:t>, MLT, etc.</a:t>
            </a:r>
          </a:p>
          <a:p>
            <a:endParaRPr kumimoji="1" lang="en-US" altLang="ja-JP" dirty="0"/>
          </a:p>
          <a:p>
            <a:r>
              <a:rPr kumimoji="1" lang="en-US" altLang="ja-JP" u="sng" dirty="0"/>
              <a:t>Bidirectional Path </a:t>
            </a:r>
            <a:r>
              <a:rPr lang="en-US" altLang="ja-JP" u="sng" dirty="0"/>
              <a:t>Tracing (BPT)</a:t>
            </a:r>
            <a:r>
              <a:rPr lang="en-US" altLang="ja-JP" dirty="0"/>
              <a:t>:</a:t>
            </a:r>
            <a:br>
              <a:rPr lang="en-US" altLang="ja-JP" dirty="0"/>
            </a:br>
            <a:r>
              <a:rPr lang="en-US" altLang="ja-JP" dirty="0"/>
              <a:t>Conventional path tracing trace paths </a:t>
            </a:r>
            <a:br>
              <a:rPr lang="en-US" altLang="ja-JP" dirty="0"/>
            </a:br>
            <a:r>
              <a:rPr lang="en-US" altLang="ja-JP" b="1" dirty="0"/>
              <a:t>(only) from the viewpoint</a:t>
            </a:r>
          </a:p>
          <a:p>
            <a:pPr marL="0" indent="0">
              <a:buNone/>
            </a:pPr>
            <a:r>
              <a:rPr lang="ja-JP" altLang="en-US" dirty="0"/>
              <a:t>→ </a:t>
            </a:r>
            <a:r>
              <a:rPr lang="en-US" altLang="ja-JP" dirty="0"/>
              <a:t>Trace the path from the light source </a:t>
            </a:r>
            <a:br>
              <a:rPr lang="en-US" altLang="ja-JP" dirty="0"/>
            </a:br>
            <a:r>
              <a:rPr lang="en-US" altLang="ja-JP" dirty="0"/>
              <a:t>     and consider </a:t>
            </a:r>
            <a:r>
              <a:rPr lang="en-US" altLang="ja-JP" b="1" dirty="0"/>
              <a:t>all possible </a:t>
            </a:r>
            <a:br>
              <a:rPr lang="en-US" altLang="ja-JP" b="1" dirty="0"/>
            </a:br>
            <a:r>
              <a:rPr lang="en-US" altLang="ja-JP" b="1" dirty="0"/>
              <a:t>     combinations of connections!</a:t>
            </a:r>
            <a:r>
              <a:rPr lang="en-US" altLang="ja-JP" dirty="0"/>
              <a:t> </a:t>
            </a:r>
          </a:p>
          <a:p>
            <a:pPr marL="0" indent="0">
              <a:buNone/>
            </a:pPr>
            <a:r>
              <a:rPr kumimoji="1" lang="ja-JP" altLang="en-US" dirty="0"/>
              <a:t>→ </a:t>
            </a:r>
            <a:r>
              <a:rPr lang="en-US" altLang="ja-JP" dirty="0"/>
              <a:t>Significantly reduces</a:t>
            </a:r>
            <a:br>
              <a:rPr lang="en-US" altLang="ja-JP" dirty="0"/>
            </a:br>
            <a:r>
              <a:rPr lang="en-US" altLang="ja-JP" dirty="0"/>
              <a:t>     MC noise of </a:t>
            </a:r>
            <a:r>
              <a:rPr lang="en-US" altLang="ja-JP" b="1" dirty="0"/>
              <a:t>indirect light</a:t>
            </a:r>
            <a:endParaRPr kumimoji="1" lang="ja-JP" altLang="en-US" b="1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401934C-B148-65CF-5C9F-78EC49853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lang="ja-JP" altLang="en-US" smtClean="0"/>
              <a:pPr/>
              <a:t>3</a:t>
            </a:fld>
            <a:endParaRPr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211535D-E778-B46F-D478-8593DF35E748}"/>
              </a:ext>
            </a:extLst>
          </p:cNvPr>
          <p:cNvSpPr txBox="1"/>
          <p:nvPr/>
        </p:nvSpPr>
        <p:spPr>
          <a:xfrm>
            <a:off x="6836503" y="6319651"/>
            <a:ext cx="3862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BPT’s overview [1]</a:t>
            </a:r>
            <a:endParaRPr kumimoji="1"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E77F3B1-4DF9-A0ED-105E-BA14E0FC7D84}"/>
              </a:ext>
            </a:extLst>
          </p:cNvPr>
          <p:cNvSpPr/>
          <p:nvPr/>
        </p:nvSpPr>
        <p:spPr>
          <a:xfrm>
            <a:off x="6846028" y="3471758"/>
            <a:ext cx="878747" cy="3810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3B4233E-892D-162A-82D3-8ADCA63DC48D}"/>
              </a:ext>
            </a:extLst>
          </p:cNvPr>
          <p:cNvSpPr/>
          <p:nvPr/>
        </p:nvSpPr>
        <p:spPr>
          <a:xfrm>
            <a:off x="11015492" y="3462233"/>
            <a:ext cx="878747" cy="3810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362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058D6-5919-7A36-FB5C-E733670A7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CAE209-4ACA-55D1-F4E9-4C6DC0748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Background: (P)PM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52FE830-7059-F639-2527-C992AF07B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lang="ja-JP" altLang="en-US" smtClean="0"/>
              <a:pPr/>
              <a:t>4</a:t>
            </a:fld>
            <a:endParaRPr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コンテンツ プレースホルダー 2">
            <a:extLst>
              <a:ext uri="{FF2B5EF4-FFF2-40B4-BE49-F238E27FC236}">
                <a16:creationId xmlns:a16="http://schemas.microsoft.com/office/drawing/2014/main" id="{6F868C25-B29E-AAFB-FFC1-4EDBB120BC7E}"/>
              </a:ext>
            </a:extLst>
          </p:cNvPr>
          <p:cNvSpPr txBox="1">
            <a:spLocks/>
          </p:cNvSpPr>
          <p:nvPr/>
        </p:nvSpPr>
        <p:spPr>
          <a:xfrm>
            <a:off x="247650" y="1325594"/>
            <a:ext cx="11430000" cy="53254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ja-JP" sz="2600" u="sng" dirty="0">
                <a:latin typeface="Calibri" panose="020F0502020204030204" pitchFamily="34" charset="0"/>
                <a:cs typeface="Calibri" panose="020F0502020204030204" pitchFamily="34" charset="0"/>
              </a:rPr>
              <a:t>Photon mapping</a:t>
            </a:r>
            <a:r>
              <a:rPr lang="en-US" altLang="ja-JP" sz="26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altLang="ja-JP" sz="2600" dirty="0">
                <a:latin typeface="Calibri" panose="020F0502020204030204" pitchFamily="34" charset="0"/>
                <a:cs typeface="Calibri" panose="020F0502020204030204" pitchFamily="34" charset="0"/>
              </a:rPr>
              <a:t>Tracing photons from light sources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altLang="ja-JP" sz="2600" dirty="0">
                <a:latin typeface="Calibri" panose="020F0502020204030204" pitchFamily="34" charset="0"/>
                <a:cs typeface="Calibri" panose="020F0502020204030204" pitchFamily="34" charset="0"/>
              </a:rPr>
              <a:t>Storing them in a data structure called “photon map”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altLang="ja-JP" sz="2600" dirty="0">
                <a:latin typeface="Calibri" panose="020F0502020204030204" pitchFamily="34" charset="0"/>
                <a:cs typeface="Calibri" panose="020F0502020204030204" pitchFamily="34" charset="0"/>
              </a:rPr>
              <a:t>Estimating the luminance of each pixels from neighbor photons in photon map</a:t>
            </a:r>
          </a:p>
        </p:txBody>
      </p:sp>
      <p:sp>
        <p:nvSpPr>
          <p:cNvPr id="28" name="スライド番号プレースホルダー 3">
            <a:extLst>
              <a:ext uri="{FF2B5EF4-FFF2-40B4-BE49-F238E27FC236}">
                <a16:creationId xmlns:a16="http://schemas.microsoft.com/office/drawing/2014/main" id="{DEB32EBB-EECC-1B89-3EC0-38D0CB92C55D}"/>
              </a:ext>
            </a:extLst>
          </p:cNvPr>
          <p:cNvSpPr txBox="1">
            <a:spLocks/>
          </p:cNvSpPr>
          <p:nvPr/>
        </p:nvSpPr>
        <p:spPr>
          <a:xfrm>
            <a:off x="4591050" y="615626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600" b="1" kern="1200">
                <a:solidFill>
                  <a:schemeClr val="bg1"/>
                </a:solidFill>
                <a:latin typeface="Calibri" panose="020F0502020204030204" pitchFamily="34" charset="0"/>
                <a:ea typeface="メイリオ" panose="020B0604030504040204" pitchFamily="50" charset="-128"/>
                <a:cs typeface="Calibri" panose="020F0502020204030204" pitchFamily="34" charset="0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E9015D3-631C-4344-8257-B8CD8F0B7488}" type="slidenum">
              <a:rPr lang="ja-JP" altLang="en-US" smtClean="0"/>
              <a:pPr/>
              <a:t>4</a:t>
            </a:fld>
            <a:endParaRPr lang="ja-JP" altLang="en-US" dirty="0"/>
          </a:p>
        </p:txBody>
      </p:sp>
      <p:pic>
        <p:nvPicPr>
          <p:cNvPr id="30" name="Picture 10" descr="Illustration of photon mapping. (a) Light sources send out energy as photons; (b) a density estimation is used to estimate the energy per surface area. ">
            <a:extLst>
              <a:ext uri="{FF2B5EF4-FFF2-40B4-BE49-F238E27FC236}">
                <a16:creationId xmlns:a16="http://schemas.microsoft.com/office/drawing/2014/main" id="{F5221E2A-CF69-DF46-93E2-4AC790B0E9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586"/>
          <a:stretch>
            <a:fillRect/>
          </a:stretch>
        </p:blipFill>
        <p:spPr bwMode="auto">
          <a:xfrm>
            <a:off x="1867649" y="3574516"/>
            <a:ext cx="3240000" cy="2210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1322FFDE-266F-DBDE-72FA-906679B55044}"/>
              </a:ext>
            </a:extLst>
          </p:cNvPr>
          <p:cNvSpPr txBox="1"/>
          <p:nvPr/>
        </p:nvSpPr>
        <p:spPr>
          <a:xfrm>
            <a:off x="3982775" y="5875058"/>
            <a:ext cx="4226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Photon mapping’s overview</a:t>
            </a:r>
            <a:b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(a) means step 1&amp;2, (b) means step 3</a:t>
            </a:r>
            <a:r>
              <a:rPr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[2]</a:t>
            </a:r>
            <a:endParaRPr kumimoji="1"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8" name="Picture 10" descr="Illustration of photon mapping. (a) Light sources send out energy as photons; (b) a density estimation is used to estimate the energy per surface area. ">
            <a:extLst>
              <a:ext uri="{FF2B5EF4-FFF2-40B4-BE49-F238E27FC236}">
                <a16:creationId xmlns:a16="http://schemas.microsoft.com/office/drawing/2014/main" id="{7B70BAF9-6F32-617E-30A1-60B49C0928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902"/>
          <a:stretch>
            <a:fillRect/>
          </a:stretch>
        </p:blipFill>
        <p:spPr bwMode="auto">
          <a:xfrm>
            <a:off x="7084350" y="3628420"/>
            <a:ext cx="3364413" cy="2102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矢印: 右 38">
            <a:extLst>
              <a:ext uri="{FF2B5EF4-FFF2-40B4-BE49-F238E27FC236}">
                <a16:creationId xmlns:a16="http://schemas.microsoft.com/office/drawing/2014/main" id="{190A74FA-CC68-3291-19F0-92D3142FC964}"/>
              </a:ext>
            </a:extLst>
          </p:cNvPr>
          <p:cNvSpPr/>
          <p:nvPr/>
        </p:nvSpPr>
        <p:spPr>
          <a:xfrm>
            <a:off x="5915111" y="4600575"/>
            <a:ext cx="361777" cy="29527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7132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35D89-03A4-99F9-BFE4-AD8A6F8FF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025BB0-8179-12DF-A71B-A9B5134D9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Background: PPM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EB6866E-A967-2721-740E-2250FE103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lang="ja-JP" altLang="en-US" smtClean="0"/>
              <a:pPr/>
              <a:t>5</a:t>
            </a:fld>
            <a:endParaRPr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0D772ED0-21AA-B1F1-26A9-8F88D1FEAFF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0065" y="1258677"/>
                <a:ext cx="11771869" cy="532542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ja-JP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Photon mapping is known as a fast and efficient physically-based rendering method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ja-JP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 But…</a:t>
                </a:r>
              </a:p>
              <a:p>
                <a:pPr marL="625475" indent="-355600">
                  <a:tabLst>
                    <a:tab pos="271463" algn="l"/>
                  </a:tabLst>
                </a:pPr>
                <a:r>
                  <a:rPr lang="en-US" altLang="ja-JP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Accuracy is traded off against </a:t>
                </a:r>
                <a:r>
                  <a:rPr lang="en-US" altLang="ja-JP" sz="26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spatial</a:t>
                </a:r>
                <a:r>
                  <a:rPr lang="en-US" altLang="ja-JP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computational complexity</a:t>
                </a:r>
              </a:p>
              <a:p>
                <a:pPr marL="625475" indent="-355600">
                  <a:tabLst>
                    <a:tab pos="271463" algn="l"/>
                  </a:tabLst>
                </a:pPr>
                <a:r>
                  <a:rPr lang="en-US" altLang="ja-JP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Since the photon's search radius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r</m:t>
                    </m:r>
                  </m:oMath>
                </a14:m>
                <a:r>
                  <a:rPr lang="en-US" altLang="ja-JP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a finite, the result will contain a </a:t>
                </a:r>
                <a:r>
                  <a:rPr lang="en-US" altLang="ja-JP" sz="26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bias</a:t>
                </a:r>
              </a:p>
              <a:p>
                <a:pPr marL="625475" indent="-355600">
                  <a:tabLst>
                    <a:tab pos="271463" algn="l"/>
                  </a:tabLst>
                </a:pPr>
                <a:endParaRPr lang="en-US" altLang="ja-JP" sz="2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ja-JP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ja-JP" altLang="en-US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      → </a:t>
                </a:r>
                <a:r>
                  <a:rPr lang="en-US" altLang="ja-JP" sz="26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Progressive Photon Mapping(PPM)</a:t>
                </a:r>
                <a:r>
                  <a:rPr lang="en-US" altLang="ja-JP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[Hachisuka et al. 2008]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altLang="ja-JP" sz="2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625475" indent="-355600">
                  <a:buFont typeface="+mj-lt"/>
                  <a:buAutoNum type="arabicPeriod"/>
                  <a:tabLst>
                    <a:tab pos="444500" algn="l"/>
                  </a:tabLst>
                </a:pPr>
                <a:r>
                  <a:rPr lang="en-US" altLang="ja-JP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ja-JP" sz="26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Save the hit points </a:t>
                </a:r>
                <a:r>
                  <a:rPr lang="en-US" altLang="ja-JP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of the ray from the camera first (called “Camera tracing”)</a:t>
                </a:r>
              </a:p>
              <a:p>
                <a:pPr marL="625475" indent="-355600">
                  <a:buFont typeface="+mj-lt"/>
                  <a:buAutoNum type="arabicPeriod"/>
                  <a:tabLst>
                    <a:tab pos="444500" algn="l"/>
                  </a:tabLst>
                </a:pPr>
                <a:r>
                  <a:rPr lang="en-US" altLang="ja-JP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ja-JP" sz="26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Throw photons </a:t>
                </a:r>
                <a:r>
                  <a:rPr lang="en-US" altLang="ja-JP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progressively towards hit points</a:t>
                </a:r>
              </a:p>
              <a:p>
                <a:pPr marL="269875" indent="0">
                  <a:buNone/>
                  <a:tabLst>
                    <a:tab pos="444500" algn="l"/>
                  </a:tabLst>
                </a:pPr>
                <a:r>
                  <a:rPr lang="en-US" altLang="ja-JP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repeat 1-2 and average each result </a:t>
                </a:r>
                <a:r>
                  <a:rPr lang="ja-JP" altLang="en-US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→ </a:t>
                </a:r>
                <a:r>
                  <a:rPr lang="en-US" altLang="ja-JP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Unbiased, depends on </a:t>
                </a:r>
                <a:r>
                  <a:rPr lang="en-US" altLang="ja-JP" sz="26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temporal</a:t>
                </a:r>
                <a:r>
                  <a:rPr lang="en-US" altLang="ja-JP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complexity</a:t>
                </a:r>
                <a:endParaRPr lang="en-US" altLang="ja-JP" sz="26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0D772ED0-21AA-B1F1-26A9-8F88D1FEA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065" y="1258677"/>
                <a:ext cx="11771869" cy="5325421"/>
              </a:xfrm>
              <a:prstGeom prst="rect">
                <a:avLst/>
              </a:prstGeom>
              <a:blipFill>
                <a:blip r:embed="rId2"/>
                <a:stretch>
                  <a:fillRect l="-776" t="-171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7550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06F60-F620-9489-75C7-5771EA5A4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054CA6-3F2F-0DB9-BCB1-0DB0EC0AD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Overview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201D340-0B04-D777-D178-DA5BF6526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lang="ja-JP" altLang="en-US" smtClean="0"/>
              <a:pPr/>
              <a:t>6</a:t>
            </a:fld>
            <a:endParaRPr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45FA1D3-A339-8B60-7FE9-9A4A7771C0DB}"/>
              </a:ext>
            </a:extLst>
          </p:cNvPr>
          <p:cNvSpPr txBox="1">
            <a:spLocks/>
          </p:cNvSpPr>
          <p:nvPr/>
        </p:nvSpPr>
        <p:spPr>
          <a:xfrm>
            <a:off x="138370" y="1258677"/>
            <a:ext cx="11915260" cy="12438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2600" dirty="0">
                <a:latin typeface="Calibri" panose="020F0502020204030204" pitchFamily="34" charset="0"/>
                <a:cs typeface="Calibri" panose="020F0502020204030204" pitchFamily="34" charset="0"/>
              </a:rPr>
              <a:t>These approaches are </a:t>
            </a:r>
            <a:r>
              <a:rPr lang="en-US" altLang="ja-JP" sz="2600" b="1" dirty="0">
                <a:latin typeface="Calibri" panose="020F0502020204030204" pitchFamily="34" charset="0"/>
                <a:cs typeface="Calibri" panose="020F0502020204030204" pitchFamily="34" charset="0"/>
              </a:rPr>
              <a:t>complementary</a:t>
            </a:r>
          </a:p>
          <a:p>
            <a:pPr lvl="1"/>
            <a:r>
              <a:rPr lang="en-US" altLang="ja-JP" sz="2200" dirty="0">
                <a:latin typeface="Calibri" panose="020F0502020204030204" pitchFamily="34" charset="0"/>
                <a:cs typeface="Calibri" panose="020F0502020204030204" pitchFamily="34" charset="0"/>
              </a:rPr>
              <a:t>BPT: </a:t>
            </a:r>
            <a:r>
              <a:rPr lang="en-US" altLang="ja-JP" sz="2200" b="1" dirty="0">
                <a:latin typeface="Calibri" panose="020F0502020204030204" pitchFamily="34" charset="0"/>
                <a:cs typeface="Calibri" panose="020F0502020204030204" pitchFamily="34" charset="0"/>
              </a:rPr>
              <a:t>Robust</a:t>
            </a:r>
            <a:r>
              <a:rPr lang="en-US" altLang="ja-JP" sz="2200" dirty="0">
                <a:latin typeface="Calibri" panose="020F0502020204030204" pitchFamily="34" charset="0"/>
                <a:cs typeface="Calibri" panose="020F0502020204030204" pitchFamily="34" charset="0"/>
              </a:rPr>
              <a:t> due to MIS from many combinations, but </a:t>
            </a:r>
            <a:r>
              <a:rPr lang="en-US" altLang="ja-JP" sz="2200" b="1" dirty="0">
                <a:latin typeface="Calibri" panose="020F0502020204030204" pitchFamily="34" charset="0"/>
                <a:cs typeface="Calibri" panose="020F0502020204030204" pitchFamily="34" charset="0"/>
              </a:rPr>
              <a:t>weak against “SDS” path</a:t>
            </a:r>
            <a:r>
              <a:rPr lang="en-US" altLang="ja-JP" sz="2200" dirty="0">
                <a:latin typeface="Calibri" panose="020F0502020204030204" pitchFamily="34" charset="0"/>
                <a:cs typeface="Calibri" panose="020F0502020204030204" pitchFamily="34" charset="0"/>
              </a:rPr>
              <a:t> (like caustics)</a:t>
            </a:r>
          </a:p>
          <a:p>
            <a:pPr lvl="1"/>
            <a:r>
              <a:rPr lang="en-US" altLang="ja-JP" sz="2200" dirty="0">
                <a:latin typeface="Calibri" panose="020F0502020204030204" pitchFamily="34" charset="0"/>
                <a:cs typeface="Calibri" panose="020F0502020204030204" pitchFamily="34" charset="0"/>
              </a:rPr>
              <a:t>PPM: </a:t>
            </a:r>
            <a:r>
              <a:rPr lang="en-US" altLang="ja-JP" sz="2200" b="1" dirty="0">
                <a:latin typeface="Calibri" panose="020F0502020204030204" pitchFamily="34" charset="0"/>
                <a:cs typeface="Calibri" panose="020F0502020204030204" pitchFamily="34" charset="0"/>
              </a:rPr>
              <a:t>Very effective against SDS paths</a:t>
            </a:r>
            <a:r>
              <a:rPr lang="en-US" altLang="ja-JP" sz="2200" dirty="0">
                <a:latin typeface="Calibri" panose="020F0502020204030204" pitchFamily="34" charset="0"/>
                <a:cs typeface="Calibri" panose="020F0502020204030204" pitchFamily="34" charset="0"/>
              </a:rPr>
              <a:t>, but it is </a:t>
            </a:r>
            <a:r>
              <a:rPr lang="en-US" altLang="ja-JP" sz="2200" b="1" dirty="0">
                <a:latin typeface="Calibri" panose="020F0502020204030204" pitchFamily="34" charset="0"/>
                <a:cs typeface="Calibri" panose="020F0502020204030204" pitchFamily="34" charset="0"/>
              </a:rPr>
              <a:t>weak against diffuse reflection</a:t>
            </a:r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5E6B3675-0F03-1FD3-E126-E87DA2851320}"/>
              </a:ext>
            </a:extLst>
          </p:cNvPr>
          <p:cNvSpPr txBox="1">
            <a:spLocks/>
          </p:cNvSpPr>
          <p:nvPr/>
        </p:nvSpPr>
        <p:spPr>
          <a:xfrm>
            <a:off x="138370" y="2897646"/>
            <a:ext cx="11915260" cy="13496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2600" dirty="0">
                <a:latin typeface="Calibri" panose="020F0502020204030204" pitchFamily="34" charset="0"/>
                <a:cs typeface="Calibri" panose="020F0502020204030204" pitchFamily="34" charset="0"/>
              </a:rPr>
              <a:t>However, these two methods are </a:t>
            </a:r>
            <a:r>
              <a:rPr lang="en-US" altLang="ja-JP" sz="2600" b="1" dirty="0">
                <a:latin typeface="Calibri" panose="020F0502020204030204" pitchFamily="34" charset="0"/>
                <a:cs typeface="Calibri" panose="020F0502020204030204" pitchFamily="34" charset="0"/>
              </a:rPr>
              <a:t>derived in different way</a:t>
            </a:r>
            <a:r>
              <a:rPr lang="ja-JP" alt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ja-JP" alt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ja-JP" sz="2600" b="1" dirty="0">
                <a:latin typeface="Calibri" panose="020F0502020204030204" pitchFamily="34" charset="0"/>
                <a:cs typeface="Calibri" panose="020F0502020204030204" pitchFamily="34" charset="0"/>
              </a:rPr>
              <a:t>difficult to integrate</a:t>
            </a:r>
          </a:p>
          <a:p>
            <a:pPr lvl="1"/>
            <a:r>
              <a:rPr lang="en-US" altLang="ja-JP" sz="2200" dirty="0">
                <a:latin typeface="Calibri" panose="020F0502020204030204" pitchFamily="34" charset="0"/>
                <a:cs typeface="Calibri" panose="020F0502020204030204" pitchFamily="34" charset="0"/>
              </a:rPr>
              <a:t>BPT: Based on </a:t>
            </a:r>
            <a:r>
              <a:rPr lang="en-US" altLang="ja-JP" sz="2200" b="1" dirty="0">
                <a:latin typeface="Calibri" panose="020F0502020204030204" pitchFamily="34" charset="0"/>
                <a:cs typeface="Calibri" panose="020F0502020204030204" pitchFamily="34" charset="0"/>
              </a:rPr>
              <a:t>path integration framework</a:t>
            </a:r>
            <a:r>
              <a:rPr lang="en-US" altLang="ja-JP" sz="2200" dirty="0">
                <a:latin typeface="Calibri" panose="020F0502020204030204" pitchFamily="34" charset="0"/>
                <a:cs typeface="Calibri" panose="020F0502020204030204" pitchFamily="34" charset="0"/>
              </a:rPr>
              <a:t>, consider “vertices” and edges to connect them</a:t>
            </a:r>
          </a:p>
          <a:p>
            <a:pPr lvl="1"/>
            <a:r>
              <a:rPr lang="en-US" altLang="ja-JP" sz="2200" dirty="0">
                <a:latin typeface="Calibri" panose="020F0502020204030204" pitchFamily="34" charset="0"/>
                <a:cs typeface="Calibri" panose="020F0502020204030204" pitchFamily="34" charset="0"/>
              </a:rPr>
              <a:t>PPM:  Based on </a:t>
            </a:r>
            <a:r>
              <a:rPr lang="en-US" altLang="ja-JP" sz="2200" b="1" dirty="0">
                <a:latin typeface="Calibri" panose="020F0502020204030204" pitchFamily="34" charset="0"/>
                <a:cs typeface="Calibri" panose="020F0502020204030204" pitchFamily="34" charset="0"/>
              </a:rPr>
              <a:t>Density estimation</a:t>
            </a:r>
            <a:r>
              <a:rPr lang="en-US" altLang="ja-JP" sz="2200" dirty="0">
                <a:latin typeface="Calibri" panose="020F0502020204030204" pitchFamily="34" charset="0"/>
                <a:cs typeface="Calibri" panose="020F0502020204030204" pitchFamily="34" charset="0"/>
              </a:rPr>
              <a:t>, Find the density of photons at the observation point</a:t>
            </a:r>
          </a:p>
        </p:txBody>
      </p:sp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C7D75C57-4B52-C1D5-7BAC-6BFE84723DA7}"/>
              </a:ext>
            </a:extLst>
          </p:cNvPr>
          <p:cNvSpPr txBox="1">
            <a:spLocks/>
          </p:cNvSpPr>
          <p:nvPr/>
        </p:nvSpPr>
        <p:spPr>
          <a:xfrm>
            <a:off x="138370" y="4873694"/>
            <a:ext cx="11915260" cy="1831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2600" dirty="0">
                <a:latin typeface="Calibri" panose="020F0502020204030204" pitchFamily="34" charset="0"/>
                <a:cs typeface="Calibri" panose="020F0502020204030204" pitchFamily="34" charset="0"/>
              </a:rPr>
              <a:t>This method (VCM) integrates them </a:t>
            </a:r>
            <a:r>
              <a:rPr lang="en-US" altLang="ja-JP" sz="2600" b="1" dirty="0">
                <a:latin typeface="Calibri" panose="020F0502020204030204" pitchFamily="34" charset="0"/>
                <a:cs typeface="Calibri" panose="020F0502020204030204" pitchFamily="34" charset="0"/>
              </a:rPr>
              <a:t>within the path integration framework</a:t>
            </a:r>
          </a:p>
          <a:p>
            <a:pPr marL="914400" lvl="1" indent="-457200">
              <a:buAutoNum type="arabicPeriod"/>
            </a:pPr>
            <a:r>
              <a:rPr lang="en-US" altLang="ja-JP" sz="2200" b="1" dirty="0">
                <a:latin typeface="Calibri" panose="020F0502020204030204" pitchFamily="34" charset="0"/>
                <a:cs typeface="Calibri" panose="020F0502020204030204" pitchFamily="34" charset="0"/>
              </a:rPr>
              <a:t>Vertex Connection</a:t>
            </a:r>
            <a:r>
              <a:rPr lang="en-US" altLang="ja-JP" sz="2200" dirty="0">
                <a:latin typeface="Calibri" panose="020F0502020204030204" pitchFamily="34" charset="0"/>
                <a:cs typeface="Calibri" panose="020F0502020204030204" pitchFamily="34" charset="0"/>
              </a:rPr>
              <a:t>: connect vertices based on MIS, </a:t>
            </a:r>
            <a:r>
              <a:rPr lang="en-US" altLang="ja-JP" sz="2200" b="1" dirty="0">
                <a:latin typeface="Calibri" panose="020F0502020204030204" pitchFamily="34" charset="0"/>
                <a:cs typeface="Calibri" panose="020F0502020204030204" pitchFamily="34" charset="0"/>
              </a:rPr>
              <a:t>from BPT</a:t>
            </a:r>
          </a:p>
          <a:p>
            <a:pPr marL="914400" lvl="1" indent="-457200">
              <a:buAutoNum type="arabicPeriod"/>
            </a:pPr>
            <a:r>
              <a:rPr lang="en-US" altLang="ja-JP" sz="2200" b="1" dirty="0">
                <a:latin typeface="Calibri" panose="020F0502020204030204" pitchFamily="34" charset="0"/>
                <a:cs typeface="Calibri" panose="020F0502020204030204" pitchFamily="34" charset="0"/>
              </a:rPr>
              <a:t>Vertex Merging</a:t>
            </a:r>
            <a:r>
              <a:rPr lang="en-US" altLang="ja-JP" sz="2200" dirty="0">
                <a:latin typeface="Calibri" panose="020F0502020204030204" pitchFamily="34" charset="0"/>
                <a:cs typeface="Calibri" panose="020F0502020204030204" pitchFamily="34" charset="0"/>
              </a:rPr>
              <a:t>: “merge” near vertices and reuse, </a:t>
            </a:r>
            <a:r>
              <a:rPr lang="en-US" altLang="ja-JP" sz="2200" b="1" dirty="0">
                <a:latin typeface="Calibri" panose="020F0502020204030204" pitchFamily="34" charset="0"/>
                <a:cs typeface="Calibri" panose="020F0502020204030204" pitchFamily="34" charset="0"/>
              </a:rPr>
              <a:t>from PPM</a:t>
            </a:r>
          </a:p>
          <a:p>
            <a:pPr marL="457200" lvl="1" indent="0">
              <a:buNone/>
            </a:pPr>
            <a:r>
              <a:rPr lang="ja-JP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altLang="ja-JP" sz="2200" dirty="0">
                <a:latin typeface="Calibri" panose="020F0502020204030204" pitchFamily="34" charset="0"/>
                <a:cs typeface="Calibri" panose="020F0502020204030204" pitchFamily="34" charset="0"/>
              </a:rPr>
              <a:t>“Vertex Connection and Merging”</a:t>
            </a:r>
          </a:p>
          <a:p>
            <a:pPr marL="914400" lvl="1" indent="-457200">
              <a:buAutoNum type="arabicPeriod"/>
            </a:pPr>
            <a:endParaRPr lang="en-US" altLang="ja-JP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矢印: 下 6">
            <a:extLst>
              <a:ext uri="{FF2B5EF4-FFF2-40B4-BE49-F238E27FC236}">
                <a16:creationId xmlns:a16="http://schemas.microsoft.com/office/drawing/2014/main" id="{3780D797-1317-5B27-7897-9B7FBF199673}"/>
              </a:ext>
            </a:extLst>
          </p:cNvPr>
          <p:cNvSpPr/>
          <p:nvPr/>
        </p:nvSpPr>
        <p:spPr>
          <a:xfrm>
            <a:off x="5934075" y="4372907"/>
            <a:ext cx="323850" cy="295275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6040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2B995-BA87-0FBE-B75D-1A72DD063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84C8A2-FA74-1B63-A12B-AC5126145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Overview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D0E1B06-C203-CDB8-95A5-B56101FDD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lang="ja-JP" altLang="en-US" smtClean="0"/>
              <a:pPr/>
              <a:t>7</a:t>
            </a:fld>
            <a:endParaRPr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8590BEA4-F800-E285-DECF-9D4A4580F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78" y="1258677"/>
            <a:ext cx="9153232" cy="5237373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3599549-E2CA-2255-362A-1131E4AFBBC0}"/>
              </a:ext>
            </a:extLst>
          </p:cNvPr>
          <p:cNvSpPr txBox="1"/>
          <p:nvPr/>
        </p:nvSpPr>
        <p:spPr>
          <a:xfrm>
            <a:off x="3982776" y="6385272"/>
            <a:ext cx="4226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Overview of VCM method [3]</a:t>
            </a:r>
            <a:endParaRPr kumimoji="1"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9626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0A141-E790-D52D-C078-B5DB4A0E3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973ED3-8BE4-5C2C-1807-5597D2784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Vertex merging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9C78673-E48A-A539-2C14-181AA317C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lang="ja-JP" altLang="en-US" smtClean="0"/>
              <a:pPr/>
              <a:t>8</a:t>
            </a:fld>
            <a:endParaRPr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コンテンツ プレースホルダー 2">
                <a:extLst>
                  <a:ext uri="{FF2B5EF4-FFF2-40B4-BE49-F238E27FC236}">
                    <a16:creationId xmlns:a16="http://schemas.microsoft.com/office/drawing/2014/main" id="{63B9AFB6-6E92-C014-B09C-F7E514232D9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8370" y="1430127"/>
                <a:ext cx="11915260" cy="158929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altLang="ja-JP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Treat photon density estimation as “path’s </a:t>
                </a:r>
                <a:r>
                  <a:rPr lang="en-US" altLang="ja-JP" sz="26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vertex merging</a:t>
                </a:r>
                <a:r>
                  <a:rPr lang="en-US" altLang="ja-JP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”</a:t>
                </a:r>
              </a:p>
              <a:p>
                <a:pPr marL="0" indent="0">
                  <a:buNone/>
                </a:pPr>
                <a:r>
                  <a:rPr lang="ja-JP" altLang="en-US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→ </a:t>
                </a:r>
                <a:r>
                  <a:rPr lang="en-US" altLang="ja-JP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Photon is like a </a:t>
                </a:r>
                <a:r>
                  <a:rPr lang="en-US" altLang="ja-JP" sz="26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probabilistic vertex </a:t>
                </a:r>
                <a:r>
                  <a:rPr lang="en-US" altLang="ja-JP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in BPT, MIS candidates increase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k</m:t>
                    </m:r>
                    <m:r>
                      <a:rPr lang="en-US" altLang="ja-JP" sz="2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US" altLang="ja-JP" sz="2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2</m:t>
                    </m:r>
                  </m:oMath>
                </a14:m>
                <a:r>
                  <a:rPr lang="ja-JP" altLang="en-US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→ </a:t>
                </a:r>
                <a14:m>
                  <m:oMath xmlns:m="http://schemas.openxmlformats.org/officeDocument/2006/math">
                    <m:r>
                      <a:rPr lang="en-US" altLang="ja-JP" sz="2600" b="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altLang="ja-JP" sz="2600" b="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k</m:t>
                    </m:r>
                    <m:r>
                      <a:rPr lang="en-US" altLang="ja-JP" sz="2600" b="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US" altLang="ja-JP" sz="2600" b="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1</m:t>
                    </m:r>
                  </m:oMath>
                </a14:m>
                <a:endParaRPr lang="en-US" altLang="ja-JP" sz="26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" name="コンテンツ プレースホルダー 2">
                <a:extLst>
                  <a:ext uri="{FF2B5EF4-FFF2-40B4-BE49-F238E27FC236}">
                    <a16:creationId xmlns:a16="http://schemas.microsoft.com/office/drawing/2014/main" id="{63B9AFB6-6E92-C014-B09C-F7E514232D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370" y="1430127"/>
                <a:ext cx="11915260" cy="1589298"/>
              </a:xfrm>
              <a:prstGeom prst="rect">
                <a:avLst/>
              </a:prstGeom>
              <a:blipFill>
                <a:blip r:embed="rId2"/>
                <a:stretch>
                  <a:fillRect l="-921" t="-615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図 8">
            <a:extLst>
              <a:ext uri="{FF2B5EF4-FFF2-40B4-BE49-F238E27FC236}">
                <a16:creationId xmlns:a16="http://schemas.microsoft.com/office/drawing/2014/main" id="{A3859A39-09E1-F858-2CA6-C0D771D292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1699" y="3258512"/>
            <a:ext cx="6748602" cy="321039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23DEAFF6-63E2-9FD2-7BB3-8C81C9284C10}"/>
                  </a:ext>
                </a:extLst>
              </p:cNvPr>
              <p:cNvSpPr txBox="1"/>
              <p:nvPr/>
            </p:nvSpPr>
            <p:spPr>
              <a:xfrm>
                <a:off x="3399233" y="2389364"/>
                <a:ext cx="539353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ja-JP" sz="2400" b="0" i="0" smtClean="0">
                              <a:latin typeface="Cambria Math" panose="02040503050406030204" pitchFamily="18" charset="0"/>
                            </a:rPr>
                            <m:t>VM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 ∼ </m:t>
                      </m:r>
                      <m:r>
                        <m:rPr>
                          <m:sty m:val="p"/>
                        </m:rPr>
                        <a:rPr kumimoji="1" lang="en-US" altLang="ja-JP" sz="2400" b="0" i="0" smtClean="0">
                          <a:latin typeface="Cambria Math" panose="02040503050406030204" pitchFamily="18" charset="0"/>
                        </a:rPr>
                        <m:t>π</m:t>
                      </m:r>
                      <m:sSup>
                        <m:sSup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ja-JP" sz="2400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sSubSup>
                        <m:sSubSup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kumimoji="1" lang="en-US" altLang="ja-JP" sz="2400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ja-JP" sz="2400" b="0" i="0" smtClean="0">
                              <a:latin typeface="Cambria Math" panose="02040503050406030204" pitchFamily="18" charset="0"/>
                            </a:rPr>
                            <m:t>VC</m:t>
                          </m:r>
                        </m:sub>
                      </m:sSub>
                    </m:oMath>
                  </m:oMathPara>
                </a14:m>
                <a:endParaRPr kumimoji="1" lang="en-US" altLang="ja-JP" sz="2400" i="1" dirty="0"/>
              </a:p>
              <a:p>
                <a:pPr algn="ctr"/>
                <a:r>
                  <a:rPr kumimoji="1" lang="en-US" altLang="ja-JP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Vertex merging’s pdf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ja-JP" sz="2400">
                            <a:latin typeface="Cambria Math" panose="02040503050406030204" pitchFamily="18" charset="0"/>
                          </a:rPr>
                          <m:t>VC</m:t>
                        </m:r>
                      </m:sub>
                    </m:sSub>
                  </m:oMath>
                </a14:m>
                <a:r>
                  <a:rPr kumimoji="1" lang="en-US" altLang="ja-JP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BPT’s pdf)</a:t>
                </a:r>
                <a:endParaRPr kumimoji="1" lang="ja-JP" alt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23DEAFF6-63E2-9FD2-7BB3-8C81C9284C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9233" y="2389364"/>
                <a:ext cx="5393531" cy="830997"/>
              </a:xfrm>
              <a:prstGeom prst="rect">
                <a:avLst/>
              </a:prstGeom>
              <a:blipFill>
                <a:blip r:embed="rId4"/>
                <a:stretch>
                  <a:fillRect b="-1617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0" descr="Illustration of photon mapping. (a) Light sources send out energy as photons; (b) a density estimation is used to estimate the energy per surface area. ">
            <a:extLst>
              <a:ext uri="{FF2B5EF4-FFF2-40B4-BE49-F238E27FC236}">
                <a16:creationId xmlns:a16="http://schemas.microsoft.com/office/drawing/2014/main" id="{47F690B2-E46B-CF6C-6817-C27795610B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902"/>
          <a:stretch>
            <a:fillRect/>
          </a:stretch>
        </p:blipFill>
        <p:spPr bwMode="auto">
          <a:xfrm>
            <a:off x="9758479" y="2389364"/>
            <a:ext cx="1573875" cy="983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57B377E4-A527-5860-3BA6-CABA27FBEA4F}"/>
                  </a:ext>
                </a:extLst>
              </p:cNvPr>
              <p:cNvSpPr txBox="1"/>
              <p:nvPr/>
            </p:nvSpPr>
            <p:spPr>
              <a:xfrm>
                <a:off x="9871213" y="3516997"/>
                <a:ext cx="218241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Search radius: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ja-JP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r</m:t>
                    </m:r>
                  </m:oMath>
                </a14:m>
                <a:endParaRPr kumimoji="1" lang="ja-JP" alt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57B377E4-A527-5860-3BA6-CABA27FBEA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1213" y="3516997"/>
                <a:ext cx="2182416" cy="461665"/>
              </a:xfrm>
              <a:prstGeom prst="rect">
                <a:avLst/>
              </a:prstGeom>
              <a:blipFill>
                <a:blip r:embed="rId6"/>
                <a:stretch>
                  <a:fillRect l="-2793" t="-10526" b="-28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752B43C9-0483-5A38-F34C-30B257AC0F3B}"/>
              </a:ext>
            </a:extLst>
          </p:cNvPr>
          <p:cNvCxnSpPr>
            <a:cxnSpLocks/>
            <a:stCxn id="16" idx="0"/>
          </p:cNvCxnSpPr>
          <p:nvPr/>
        </p:nvCxnSpPr>
        <p:spPr>
          <a:xfrm flipH="1" flipV="1">
            <a:off x="10858500" y="3158673"/>
            <a:ext cx="103921" cy="3583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86A71283-C46E-C6A9-3673-7E7249EAC418}"/>
              </a:ext>
            </a:extLst>
          </p:cNvPr>
          <p:cNvSpPr txBox="1"/>
          <p:nvPr/>
        </p:nvSpPr>
        <p:spPr>
          <a:xfrm>
            <a:off x="989287" y="6385272"/>
            <a:ext cx="10213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dirty="0">
                <a:latin typeface="Calibri" panose="020F0502020204030204" pitchFamily="34" charset="0"/>
                <a:cs typeface="Calibri" panose="020F0502020204030204" pitchFamily="34" charset="0"/>
              </a:rPr>
              <a:t>Comparison with (a): Standard path tracing,  (b): Vertex connection only (BPT), (c): vertex merging</a:t>
            </a:r>
          </a:p>
        </p:txBody>
      </p:sp>
    </p:spTree>
    <p:extLst>
      <p:ext uri="{BB962C8B-B14F-4D97-AF65-F5344CB8AC3E}">
        <p14:creationId xmlns:p14="http://schemas.microsoft.com/office/powerpoint/2010/main" val="1514167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D7FCB-3FCE-5C36-DE6F-D61965800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DBA632-E34A-E71A-41E3-4D9056307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Algorithm 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28A8B4E-6E78-56DB-3B9F-C0BEEEE7C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lang="ja-JP" altLang="en-US" smtClean="0"/>
              <a:pPr/>
              <a:t>9</a:t>
            </a:fld>
            <a:endParaRPr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7C60DF56-7A48-5435-D79C-4917AF501723}"/>
              </a:ext>
            </a:extLst>
          </p:cNvPr>
          <p:cNvSpPr txBox="1">
            <a:spLocks/>
          </p:cNvSpPr>
          <p:nvPr/>
        </p:nvSpPr>
        <p:spPr>
          <a:xfrm>
            <a:off x="364434" y="1430127"/>
            <a:ext cx="6626915" cy="522842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ja-JP" sz="2600" dirty="0">
                <a:latin typeface="Calibri" panose="020F0502020204030204" pitchFamily="34" charset="0"/>
                <a:cs typeface="Calibri" panose="020F0502020204030204" pitchFamily="34" charset="0"/>
              </a:rPr>
              <a:t>Stage1: </a:t>
            </a:r>
            <a:r>
              <a:rPr lang="en-US" altLang="ja-JP" sz="2600" b="1" dirty="0">
                <a:latin typeface="Calibri" panose="020F0502020204030204" pitchFamily="34" charset="0"/>
                <a:cs typeface="Calibri" panose="020F0502020204030204" pitchFamily="34" charset="0"/>
              </a:rPr>
              <a:t>Light path </a:t>
            </a:r>
            <a:r>
              <a:rPr lang="en-US" altLang="ja-JP" sz="2600" dirty="0">
                <a:latin typeface="Calibri" panose="020F0502020204030204" pitchFamily="34" charset="0"/>
                <a:cs typeface="Calibri" panose="020F0502020204030204" pitchFamily="34" charset="0"/>
              </a:rPr>
              <a:t>sampling</a:t>
            </a:r>
          </a:p>
          <a:p>
            <a:pPr marL="0" indent="0">
              <a:buNone/>
            </a:pPr>
            <a:r>
              <a:rPr lang="en-US" altLang="ja-JP" sz="2600" dirty="0">
                <a:latin typeface="Calibri" panose="020F0502020204030204" pitchFamily="34" charset="0"/>
                <a:cs typeface="Calibri" panose="020F0502020204030204" pitchFamily="34" charset="0"/>
              </a:rPr>
              <a:t>Random path sampling from a light source</a:t>
            </a:r>
          </a:p>
          <a:p>
            <a:pPr marL="0" indent="0">
              <a:buNone/>
            </a:pPr>
            <a:r>
              <a:rPr lang="ja-JP" alt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altLang="ja-JP" sz="2600" b="1" dirty="0">
                <a:latin typeface="Calibri" panose="020F0502020204030204" pitchFamily="34" charset="0"/>
                <a:cs typeface="Calibri" panose="020F0502020204030204" pitchFamily="34" charset="0"/>
              </a:rPr>
              <a:t>Save</a:t>
            </a:r>
            <a:r>
              <a:rPr lang="en-US" altLang="ja-JP" sz="2600" dirty="0">
                <a:latin typeface="Calibri" panose="020F0502020204030204" pitchFamily="34" charset="0"/>
                <a:cs typeface="Calibri" panose="020F0502020204030204" pitchFamily="34" charset="0"/>
              </a:rPr>
              <a:t> the obtained vertices</a:t>
            </a:r>
            <a:br>
              <a:rPr lang="en-US" altLang="ja-JP" sz="26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ja-JP" sz="2600" dirty="0">
                <a:latin typeface="Calibri" panose="020F0502020204030204" pitchFamily="34" charset="0"/>
                <a:cs typeface="Calibri" panose="020F0502020204030204" pitchFamily="34" charset="0"/>
              </a:rPr>
              <a:t>     to range search structure (like photon map)</a:t>
            </a:r>
          </a:p>
          <a:p>
            <a:pPr marL="0" indent="0">
              <a:buNone/>
            </a:pPr>
            <a:endParaRPr lang="en-US" altLang="ja-JP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altLang="ja-JP" sz="2600" dirty="0">
                <a:latin typeface="Calibri" panose="020F0502020204030204" pitchFamily="34" charset="0"/>
                <a:cs typeface="Calibri" panose="020F0502020204030204" pitchFamily="34" charset="0"/>
              </a:rPr>
              <a:t>Stage 2: </a:t>
            </a:r>
            <a:r>
              <a:rPr lang="en-US" altLang="ja-JP" sz="2600" b="1" dirty="0">
                <a:latin typeface="Calibri" panose="020F0502020204030204" pitchFamily="34" charset="0"/>
                <a:cs typeface="Calibri" panose="020F0502020204030204" pitchFamily="34" charset="0"/>
              </a:rPr>
              <a:t>Eye path </a:t>
            </a:r>
            <a:r>
              <a:rPr lang="en-US" altLang="ja-JP" sz="2600" dirty="0">
                <a:latin typeface="Calibri" panose="020F0502020204030204" pitchFamily="34" charset="0"/>
                <a:cs typeface="Calibri" panose="020F0502020204030204" pitchFamily="34" charset="0"/>
              </a:rPr>
              <a:t>sampling and integration</a:t>
            </a:r>
          </a:p>
          <a:p>
            <a:pPr marL="0" indent="0">
              <a:buNone/>
            </a:pPr>
            <a:r>
              <a:rPr lang="en-US" altLang="ja-JP" sz="2600" u="sng" dirty="0">
                <a:latin typeface="Calibri" panose="020F0502020204030204" pitchFamily="34" charset="0"/>
                <a:cs typeface="Calibri" panose="020F0502020204030204" pitchFamily="34" charset="0"/>
              </a:rPr>
              <a:t>US</a:t>
            </a:r>
            <a:r>
              <a:rPr lang="en-US" altLang="ja-JP" sz="2600" dirty="0">
                <a:latin typeface="Calibri" panose="020F0502020204030204" pitchFamily="34" charset="0"/>
                <a:cs typeface="Calibri" panose="020F0502020204030204" pitchFamily="34" charset="0"/>
              </a:rPr>
              <a:t>:  Direct contribution from the light source </a:t>
            </a:r>
          </a:p>
          <a:p>
            <a:pPr marL="0" indent="0">
              <a:buNone/>
            </a:pPr>
            <a:r>
              <a:rPr lang="en-US" altLang="ja-JP" sz="2600" u="sng" dirty="0">
                <a:latin typeface="Calibri" panose="020F0502020204030204" pitchFamily="34" charset="0"/>
                <a:cs typeface="Calibri" panose="020F0502020204030204" pitchFamily="34" charset="0"/>
              </a:rPr>
              <a:t>VC</a:t>
            </a:r>
            <a:r>
              <a:rPr lang="en-US" altLang="ja-JP" sz="2600" dirty="0">
                <a:latin typeface="Calibri" panose="020F0502020204030204" pitchFamily="34" charset="0"/>
                <a:cs typeface="Calibri" panose="020F0502020204030204" pitchFamily="34" charset="0"/>
              </a:rPr>
              <a:t>:  </a:t>
            </a:r>
            <a:r>
              <a:rPr lang="en-US" altLang="ja-JP" sz="2600" b="1" dirty="0">
                <a:latin typeface="Calibri" panose="020F0502020204030204" pitchFamily="34" charset="0"/>
                <a:cs typeface="Calibri" panose="020F0502020204030204" pitchFamily="34" charset="0"/>
              </a:rPr>
              <a:t>Connect</a:t>
            </a:r>
            <a:r>
              <a:rPr lang="en-US" altLang="ja-JP" sz="2600" dirty="0">
                <a:latin typeface="Calibri" panose="020F0502020204030204" pitchFamily="34" charset="0"/>
                <a:cs typeface="Calibri" panose="020F0502020204030204" pitchFamily="34" charset="0"/>
              </a:rPr>
              <a:t> each vertex of the light path </a:t>
            </a:r>
            <a:br>
              <a:rPr lang="en-US" altLang="ja-JP" sz="26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ja-JP" sz="2600" dirty="0">
                <a:latin typeface="Calibri" panose="020F0502020204030204" pitchFamily="34" charset="0"/>
                <a:cs typeface="Calibri" panose="020F0502020204030204" pitchFamily="34" charset="0"/>
              </a:rPr>
              <a:t>        to the current vertex (BPT)</a:t>
            </a:r>
          </a:p>
          <a:p>
            <a:pPr marL="0" indent="0">
              <a:buNone/>
            </a:pPr>
            <a:r>
              <a:rPr lang="en-US" altLang="ja-JP" sz="2600" u="sng" dirty="0">
                <a:latin typeface="Calibri" panose="020F0502020204030204" pitchFamily="34" charset="0"/>
                <a:cs typeface="Calibri" panose="020F0502020204030204" pitchFamily="34" charset="0"/>
              </a:rPr>
              <a:t>VM</a:t>
            </a:r>
            <a:r>
              <a:rPr lang="en-US" altLang="ja-JP" sz="26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altLang="ja-JP" sz="2600" b="1" dirty="0">
                <a:latin typeface="Calibri" panose="020F0502020204030204" pitchFamily="34" charset="0"/>
                <a:cs typeface="Calibri" panose="020F0502020204030204" pitchFamily="34" charset="0"/>
              </a:rPr>
              <a:t>Merge</a:t>
            </a:r>
            <a:r>
              <a:rPr lang="en-US" altLang="ja-JP" sz="2600" dirty="0">
                <a:latin typeface="Calibri" panose="020F0502020204030204" pitchFamily="34" charset="0"/>
                <a:cs typeface="Calibri" panose="020F0502020204030204" pitchFamily="34" charset="0"/>
              </a:rPr>
              <a:t> the saved light vertices with </a:t>
            </a:r>
          </a:p>
          <a:p>
            <a:pPr marL="0" indent="0">
              <a:buNone/>
            </a:pPr>
            <a:r>
              <a:rPr lang="en-US" altLang="ja-JP" sz="2600" dirty="0">
                <a:latin typeface="Calibri" panose="020F0502020204030204" pitchFamily="34" charset="0"/>
                <a:cs typeface="Calibri" panose="020F0502020204030204" pitchFamily="34" charset="0"/>
              </a:rPr>
              <a:t>        the current vertex</a:t>
            </a:r>
          </a:p>
          <a:p>
            <a:pPr marL="0" indent="0">
              <a:buNone/>
            </a:pPr>
            <a:r>
              <a:rPr lang="en-US" altLang="ja-JP" sz="2600" dirty="0">
                <a:latin typeface="Calibri" panose="020F0502020204030204" pitchFamily="34" charset="0"/>
                <a:cs typeface="Calibri" panose="020F0502020204030204" pitchFamily="34" charset="0"/>
              </a:rPr>
              <a:t>        → Combine their contributions</a:t>
            </a:r>
          </a:p>
          <a:p>
            <a:pPr marL="0" indent="0">
              <a:buNone/>
            </a:pPr>
            <a:endParaRPr lang="en-US" altLang="ja-JP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altLang="ja-JP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altLang="ja-JP" sz="2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4CF92EE-3E56-5959-78EC-FCB64F23F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5090" y="1258677"/>
            <a:ext cx="4562475" cy="5228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298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BCEE1-977A-1266-9325-9FCD975B0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282A67-2D71-2D9F-772F-45B5F4EC3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Asymptotic error analysis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D1964EC-D68C-E744-2E31-26FDB9F90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lang="ja-JP" altLang="en-US" smtClean="0"/>
              <a:pPr/>
              <a:t>10</a:t>
            </a:fld>
            <a:endParaRPr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D6735D35-442F-638E-9733-CB03C5AA2CF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8370" y="1258677"/>
                <a:ext cx="11915260" cy="62194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ja-JP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VCM has </a:t>
                </a:r>
                <a:r>
                  <a:rPr lang="en-US" altLang="ja-JP" sz="24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consistency like PPM </a:t>
                </a:r>
                <a:r>
                  <a:rPr lang="en-US" altLang="ja-JP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(Decrease the VM’s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r</m:t>
                    </m:r>
                  </m:oMath>
                </a14:m>
                <a:r>
                  <a:rPr lang="en-US" altLang="ja-JP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with each iteration)</a:t>
                </a:r>
                <a:endParaRPr lang="en-US" altLang="ja-JP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D6735D35-442F-638E-9733-CB03C5AA2C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370" y="1258677"/>
                <a:ext cx="11915260" cy="621945"/>
              </a:xfrm>
              <a:prstGeom prst="rect">
                <a:avLst/>
              </a:prstGeom>
              <a:blipFill>
                <a:blip r:embed="rId2"/>
                <a:stretch>
                  <a:fillRect l="-716" t="-1359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FA14665D-C9AE-0FE1-118A-7D765B6B4695}"/>
                  </a:ext>
                </a:extLst>
              </p:cNvPr>
              <p:cNvSpPr txBox="1"/>
              <p:nvPr/>
            </p:nvSpPr>
            <p:spPr>
              <a:xfrm>
                <a:off x="5223036" y="1740682"/>
                <a:ext cx="1745927" cy="5350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f>
                            <m:fPr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FA14665D-C9AE-0FE1-118A-7D765B6B46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3036" y="1740682"/>
                <a:ext cx="1745927" cy="5350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EDF89EED-0B09-10B1-40B3-39496375EFFB}"/>
                  </a:ext>
                </a:extLst>
              </p:cNvPr>
              <p:cNvSpPr txBox="1"/>
              <p:nvPr/>
            </p:nvSpPr>
            <p:spPr>
              <a:xfrm>
                <a:off x="4456273" y="2362627"/>
                <a:ext cx="327945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kumimoji="1" lang="en-US" altLang="ja-JP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-th iteration’s search radius </a:t>
                </a:r>
                <a:br>
                  <a:rPr kumimoji="1" lang="en-US" altLang="ja-JP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kumimoji="1" lang="en-US" altLang="ja-JP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ja-JP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α</m:t>
                    </m:r>
                  </m:oMath>
                </a14:m>
                <a:r>
                  <a:rPr kumimoji="1" lang="en-US" altLang="ja-JP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parameter, 2/3 as usual)</a:t>
                </a:r>
                <a:endParaRPr kumimoji="1" lang="ja-JP" altLang="en-US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EDF89EED-0B09-10B1-40B3-39496375EF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6273" y="2362627"/>
                <a:ext cx="3279452" cy="707886"/>
              </a:xfrm>
              <a:prstGeom prst="rect">
                <a:avLst/>
              </a:prstGeom>
              <a:blipFill>
                <a:blip r:embed="rId4"/>
                <a:stretch>
                  <a:fillRect t="-5172" r="-743" b="-1465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コンテンツ プレースホルダー 2">
                <a:extLst>
                  <a:ext uri="{FF2B5EF4-FFF2-40B4-BE49-F238E27FC236}">
                    <a16:creationId xmlns:a16="http://schemas.microsoft.com/office/drawing/2014/main" id="{70996E79-FE7C-0EEE-4730-586905D3961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8369" y="3157440"/>
                <a:ext cx="11915260" cy="244188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ja-JP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How does </a:t>
                </a:r>
                <a:r>
                  <a:rPr lang="en-US" altLang="ja-JP" sz="24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 MSE of VCM decrease </a:t>
                </a:r>
                <a:r>
                  <a:rPr lang="en-US" altLang="ja-JP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as the number of iterations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𝑖</m:t>
                    </m:r>
                  </m:oMath>
                </a14:m>
                <a:r>
                  <a:rPr lang="en-US" altLang="ja-JP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increases?</a:t>
                </a:r>
                <a:br>
                  <a:rPr lang="en-US" altLang="ja-JP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ja-JP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→ </a:t>
                </a:r>
                <a:r>
                  <a:rPr lang="en-US" altLang="ja-JP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VCM achieves a convergence rate of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altLang="ja-JP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𝑁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ja-JP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) while </a:t>
                </a:r>
                <a:r>
                  <a:rPr lang="en-US" altLang="ja-JP" sz="24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maintaining BPT's convergence rate </a:t>
                </a:r>
                <a:br>
                  <a:rPr lang="en-US" altLang="ja-JP" sz="2400" b="1" dirty="0"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altLang="ja-JP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in paths can be sampled using BPT, such as diffuse and glossy reflections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altLang="ja-JP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𝑁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−2</m:t>
                        </m:r>
                        <m:r>
                          <m:rPr>
                            <m:lit/>
                          </m:rPr>
                          <a:rPr lang="en-US" altLang="ja-JP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/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ja-JP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) (the convergence rate of PPM) </a:t>
                </a:r>
                <a:br>
                  <a:rPr lang="en-US" altLang="ja-JP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altLang="ja-JP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even in cases where </a:t>
                </a:r>
                <a:r>
                  <a:rPr lang="en-US" altLang="ja-JP" sz="24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MIS is not possible, such as SDS path</a:t>
                </a:r>
              </a:p>
            </p:txBody>
          </p:sp>
        </mc:Choice>
        <mc:Fallback>
          <p:sp>
            <p:nvSpPr>
              <p:cNvPr id="9" name="コンテンツ プレースホルダー 2">
                <a:extLst>
                  <a:ext uri="{FF2B5EF4-FFF2-40B4-BE49-F238E27FC236}">
                    <a16:creationId xmlns:a16="http://schemas.microsoft.com/office/drawing/2014/main" id="{70996E79-FE7C-0EEE-4730-586905D396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369" y="3157440"/>
                <a:ext cx="11915260" cy="2441883"/>
              </a:xfrm>
              <a:prstGeom prst="rect">
                <a:avLst/>
              </a:prstGeom>
              <a:blipFill>
                <a:blip r:embed="rId5"/>
                <a:stretch>
                  <a:fillRect l="-819" t="-3491" b="-99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矢印: 下 9">
            <a:extLst>
              <a:ext uri="{FF2B5EF4-FFF2-40B4-BE49-F238E27FC236}">
                <a16:creationId xmlns:a16="http://schemas.microsoft.com/office/drawing/2014/main" id="{CD77D440-9462-8E36-58B9-DE52514C35CE}"/>
              </a:ext>
            </a:extLst>
          </p:cNvPr>
          <p:cNvSpPr/>
          <p:nvPr/>
        </p:nvSpPr>
        <p:spPr>
          <a:xfrm>
            <a:off x="5962648" y="5550321"/>
            <a:ext cx="266700" cy="333375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A442793C-9832-8C5D-87F2-BC600AF2FA31}"/>
              </a:ext>
            </a:extLst>
          </p:cNvPr>
          <p:cNvSpPr txBox="1">
            <a:spLocks/>
          </p:cNvSpPr>
          <p:nvPr/>
        </p:nvSpPr>
        <p:spPr>
          <a:xfrm>
            <a:off x="290769" y="3309840"/>
            <a:ext cx="11915260" cy="24418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ja-JP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45C555D-F76A-554F-4372-37670B1410D4}"/>
              </a:ext>
            </a:extLst>
          </p:cNvPr>
          <p:cNvSpPr txBox="1"/>
          <p:nvPr/>
        </p:nvSpPr>
        <p:spPr>
          <a:xfrm>
            <a:off x="62168" y="6026571"/>
            <a:ext cx="120676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In error analysis as well, </a:t>
            </a:r>
            <a:r>
              <a:rPr lang="en-US" altLang="ja-JP" sz="2400" dirty="0">
                <a:latin typeface="Calibri" panose="020F0502020204030204" pitchFamily="34" charset="0"/>
                <a:cs typeface="Calibri" panose="020F0502020204030204" pitchFamily="34" charset="0"/>
              </a:rPr>
              <a:t>VCM</a:t>
            </a:r>
            <a:r>
              <a:rPr lang="ja-JP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have achieved a complementary </a:t>
            </a:r>
            <a:r>
              <a:rPr lang="en-US" altLang="ja-JP" sz="2400" dirty="0">
                <a:latin typeface="Calibri" panose="020F0502020204030204" pitchFamily="34" charset="0"/>
                <a:cs typeface="Calibri" panose="020F0502020204030204" pitchFamily="34" charset="0"/>
              </a:rPr>
              <a:t>error rate </a:t>
            </a:r>
            <a:r>
              <a:rPr lang="ja-JP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using both methods</a:t>
            </a:r>
          </a:p>
        </p:txBody>
      </p:sp>
    </p:spTree>
    <p:extLst>
      <p:ext uri="{BB962C8B-B14F-4D97-AF65-F5344CB8AC3E}">
        <p14:creationId xmlns:p14="http://schemas.microsoft.com/office/powerpoint/2010/main" val="3479644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1C27B-8D74-E0D8-8475-EDE257E44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BF6C0D-CC59-8B1B-3EED-F5777638E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Results (4min comparison)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B43EEE5-D68C-8769-4CE3-8BA7773AE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lang="ja-JP" altLang="en-US" smtClean="0"/>
              <a:pPr/>
              <a:t>11</a:t>
            </a:fld>
            <a:endParaRPr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7F255B5-F06B-FE4F-0606-9C3992A45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044" y="1218440"/>
            <a:ext cx="9543911" cy="2547672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DBC0A230-5A0D-4058-CBCA-53263A067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2212" y="3766112"/>
            <a:ext cx="9567573" cy="2547672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3AE949C-43D7-6C5D-A616-79231FFFF318}"/>
              </a:ext>
            </a:extLst>
          </p:cNvPr>
          <p:cNvSpPr txBox="1"/>
          <p:nvPr/>
        </p:nvSpPr>
        <p:spPr>
          <a:xfrm>
            <a:off x="2447922" y="6379284"/>
            <a:ext cx="7296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VCM combines the best features of BPT and PPM (note boxes and arrow)</a:t>
            </a:r>
            <a:endParaRPr kumimoji="1"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0373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7A168-A470-A0D8-AF6B-E7E98C7AC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F7A872-299F-EE53-D245-B9BB2E906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Evaluation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04A7E84-02D3-0E01-2640-3E8C951DC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lang="ja-JP" altLang="en-US" smtClean="0"/>
              <a:pPr/>
              <a:t>12</a:t>
            </a:fld>
            <a:endParaRPr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8FE0FD8-3B43-869E-5F36-72ECBB09015A}"/>
              </a:ext>
            </a:extLst>
          </p:cNvPr>
          <p:cNvSpPr txBox="1"/>
          <p:nvPr/>
        </p:nvSpPr>
        <p:spPr>
          <a:xfrm>
            <a:off x="377608" y="5542057"/>
            <a:ext cx="51530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Comparison of the contribution rates of VC and VM: As the number of iterations increases, the ratio of VM(which is more prone to error) decreases</a:t>
            </a:r>
            <a:endParaRPr kumimoji="1"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7AAFB354-4463-2558-B66E-58AB740A38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237"/>
          <a:stretch>
            <a:fillRect/>
          </a:stretch>
        </p:blipFill>
        <p:spPr>
          <a:xfrm>
            <a:off x="693968" y="3527862"/>
            <a:ext cx="4454584" cy="1962656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CAB212D3-D86B-567C-A9AE-039A280DF8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1526" y="1173751"/>
            <a:ext cx="5207118" cy="2405117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D83A690C-EC93-43B4-3A26-510F8F5580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9763"/>
          <a:stretch>
            <a:fillRect/>
          </a:stretch>
        </p:blipFill>
        <p:spPr>
          <a:xfrm>
            <a:off x="705599" y="1513667"/>
            <a:ext cx="4497045" cy="1962656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DE15B765-CF52-10C8-AC92-577924DD1D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1526" y="4041176"/>
            <a:ext cx="5153026" cy="2444625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804A0BE-7A49-2353-8B48-AB496571BD6A}"/>
              </a:ext>
            </a:extLst>
          </p:cNvPr>
          <p:cNvSpPr txBox="1"/>
          <p:nvPr/>
        </p:nvSpPr>
        <p:spPr>
          <a:xfrm>
            <a:off x="5647083" y="342182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ja-JP" altLang="en-US" dirty="0">
                <a:latin typeface="Calibri" panose="020F0502020204030204" pitchFamily="34" charset="0"/>
                <a:cs typeface="Calibri" panose="020F0502020204030204" pitchFamily="34" charset="0"/>
              </a:rPr>
              <a:t>omparison of convergence </a:t>
            </a:r>
            <a:r>
              <a:rPr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between</a:t>
            </a:r>
            <a:r>
              <a:rPr lang="ja-JP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pure </a:t>
            </a:r>
            <a:r>
              <a:rPr lang="ja-JP" altLang="en-US" dirty="0">
                <a:latin typeface="Calibri" panose="020F0502020204030204" pitchFamily="34" charset="0"/>
                <a:cs typeface="Calibri" panose="020F0502020204030204" pitchFamily="34" charset="0"/>
              </a:rPr>
              <a:t>PPM and VCM, experimentally demonstrating that VCM is unbiased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B81196C-34C5-31F8-2911-43AC53E78CBB}"/>
              </a:ext>
            </a:extLst>
          </p:cNvPr>
          <p:cNvSpPr txBox="1"/>
          <p:nvPr/>
        </p:nvSpPr>
        <p:spPr>
          <a:xfrm>
            <a:off x="5403160" y="6404322"/>
            <a:ext cx="65838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Comparison of convergence between BPT and PPM in each scene</a:t>
            </a:r>
            <a:endParaRPr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60181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BCC7D-2151-05F1-8C3A-27F64EE33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D45221-E832-DC3B-E290-C3E7A8BAC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Discussion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1D741D2-68CC-4C51-3A1D-8F93E9BFF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lang="ja-JP" altLang="en-US" smtClean="0"/>
              <a:pPr/>
              <a:t>13</a:t>
            </a:fld>
            <a:endParaRPr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0627909-2C57-7F2B-4D92-42B5776F507C}"/>
              </a:ext>
            </a:extLst>
          </p:cNvPr>
          <p:cNvSpPr txBox="1">
            <a:spLocks/>
          </p:cNvSpPr>
          <p:nvPr/>
        </p:nvSpPr>
        <p:spPr>
          <a:xfrm>
            <a:off x="138370" y="1548018"/>
            <a:ext cx="11915260" cy="1880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2400" dirty="0">
                <a:latin typeface="Calibri" panose="020F0502020204030204" pitchFamily="34" charset="0"/>
                <a:cs typeface="Calibri" panose="020F0502020204030204" pitchFamily="34" charset="0"/>
              </a:rPr>
              <a:t>It is </a:t>
            </a:r>
            <a:r>
              <a:rPr lang="en-US" altLang="ja-JP" sz="2400" b="1" dirty="0">
                <a:latin typeface="Calibri" panose="020F0502020204030204" pitchFamily="34" charset="0"/>
                <a:cs typeface="Calibri" panose="020F0502020204030204" pitchFamily="34" charset="0"/>
              </a:rPr>
              <a:t>extremely</a:t>
            </a:r>
            <a:r>
              <a:rPr lang="en-US" altLang="ja-JP" sz="2400" dirty="0">
                <a:latin typeface="Calibri" panose="020F0502020204030204" pitchFamily="34" charset="0"/>
                <a:cs typeface="Calibri" panose="020F0502020204030204" pitchFamily="34" charset="0"/>
              </a:rPr>
              <a:t> difficult to implement</a:t>
            </a:r>
          </a:p>
          <a:p>
            <a:pPr lvl="1"/>
            <a:r>
              <a:rPr lang="en-US" altLang="ja-JP" sz="2000" b="1" dirty="0">
                <a:latin typeface="Calibri" panose="020F0502020204030204" pitchFamily="34" charset="0"/>
                <a:cs typeface="Calibri" panose="020F0502020204030204" pitchFamily="34" charset="0"/>
              </a:rPr>
              <a:t>Even though either one is complex</a:t>
            </a:r>
            <a:r>
              <a:rPr lang="en-US" altLang="ja-JP" sz="2000" dirty="0">
                <a:latin typeface="Calibri" panose="020F0502020204030204" pitchFamily="34" charset="0"/>
                <a:cs typeface="Calibri" panose="020F0502020204030204" pitchFamily="34" charset="0"/>
              </a:rPr>
              <a:t>, we need the structures of </a:t>
            </a:r>
            <a:r>
              <a:rPr lang="en-US" altLang="ja-JP" sz="2000" b="1" dirty="0">
                <a:latin typeface="Calibri" panose="020F0502020204030204" pitchFamily="34" charset="0"/>
                <a:cs typeface="Calibri" panose="020F0502020204030204" pitchFamily="34" charset="0"/>
              </a:rPr>
              <a:t>both</a:t>
            </a:r>
            <a:r>
              <a:rPr lang="en-US" altLang="ja-JP" sz="2000" dirty="0">
                <a:latin typeface="Calibri" panose="020F0502020204030204" pitchFamily="34" charset="0"/>
                <a:cs typeface="Calibri" panose="020F0502020204030204" pitchFamily="34" charset="0"/>
              </a:rPr>
              <a:t> BPT and PPM</a:t>
            </a:r>
          </a:p>
          <a:p>
            <a:pPr lvl="1"/>
            <a:r>
              <a:rPr lang="en-US" altLang="ja-JP" sz="2000" dirty="0">
                <a:latin typeface="Calibri" panose="020F0502020204030204" pitchFamily="34" charset="0"/>
                <a:cs typeface="Calibri" panose="020F0502020204030204" pitchFamily="34" charset="0"/>
              </a:rPr>
              <a:t>Calculating MIS after vertex merging is </a:t>
            </a:r>
            <a:r>
              <a:rPr lang="en-US" altLang="ja-JP" sz="2000" b="1" dirty="0">
                <a:latin typeface="Calibri" panose="020F0502020204030204" pitchFamily="34" charset="0"/>
                <a:cs typeface="Calibri" panose="020F0502020204030204" pitchFamily="34" charset="0"/>
              </a:rPr>
              <a:t>too complex and involves too many steps</a:t>
            </a:r>
          </a:p>
          <a:p>
            <a:pPr lvl="1"/>
            <a:r>
              <a:rPr lang="en-US" altLang="ja-JP" sz="2000" dirty="0">
                <a:latin typeface="Calibri" panose="020F0502020204030204" pitchFamily="34" charset="0"/>
                <a:cs typeface="Calibri" panose="020F0502020204030204" pitchFamily="34" charset="0"/>
              </a:rPr>
              <a:t>The author later even published a technical report that </a:t>
            </a:r>
            <a:r>
              <a:rPr lang="en-US" altLang="ja-JP" sz="2000" b="1" dirty="0">
                <a:latin typeface="Calibri" panose="020F0502020204030204" pitchFamily="34" charset="0"/>
                <a:cs typeface="Calibri" panose="020F0502020204030204" pitchFamily="34" charset="0"/>
              </a:rPr>
              <a:t>only explained how to implement </a:t>
            </a:r>
            <a:r>
              <a:rPr lang="en-US" altLang="ja-JP" sz="2000" dirty="0">
                <a:latin typeface="Calibri" panose="020F0502020204030204" pitchFamily="34" charset="0"/>
                <a:cs typeface="Calibri" panose="020F0502020204030204" pitchFamily="34" charset="0"/>
              </a:rPr>
              <a:t>VCM</a:t>
            </a:r>
            <a:br>
              <a:rPr lang="en-US" altLang="ja-JP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ja-JP" sz="2000" dirty="0">
                <a:latin typeface="Calibri" panose="020F0502020204030204" pitchFamily="34" charset="0"/>
                <a:cs typeface="Calibri" panose="020F0502020204030204" pitchFamily="34" charset="0"/>
              </a:rPr>
              <a:t>“Implementing vertex connection and merging” [Georgiev, 2012]</a:t>
            </a:r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0DCA9C12-C7C6-085F-2781-870A0F76D085}"/>
              </a:ext>
            </a:extLst>
          </p:cNvPr>
          <p:cNvSpPr txBox="1">
            <a:spLocks/>
          </p:cNvSpPr>
          <p:nvPr/>
        </p:nvSpPr>
        <p:spPr>
          <a:xfrm>
            <a:off x="138370" y="3634890"/>
            <a:ext cx="11915260" cy="9570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2400" dirty="0">
                <a:latin typeface="Calibri" panose="020F0502020204030204" pitchFamily="34" charset="0"/>
                <a:cs typeface="Calibri" panose="020F0502020204030204" pitchFamily="34" charset="0"/>
              </a:rPr>
              <a:t>Higher (spatial) computational costs</a:t>
            </a:r>
          </a:p>
          <a:p>
            <a:pPr lvl="1"/>
            <a:r>
              <a:rPr lang="en-US" altLang="ja-JP" sz="2000" dirty="0">
                <a:latin typeface="Calibri" panose="020F0502020204030204" pitchFamily="34" charset="0"/>
                <a:cs typeface="Calibri" panose="020F0502020204030204" pitchFamily="34" charset="0"/>
              </a:rPr>
              <a:t>In addition to the light path, </a:t>
            </a:r>
            <a:r>
              <a:rPr lang="en-US" altLang="ja-JP" sz="2000" b="1" dirty="0">
                <a:latin typeface="Calibri" panose="020F0502020204030204" pitchFamily="34" charset="0"/>
                <a:cs typeface="Calibri" panose="020F0502020204030204" pitchFamily="34" charset="0"/>
              </a:rPr>
              <a:t>all vertices of the light path </a:t>
            </a:r>
            <a:r>
              <a:rPr lang="en-US" altLang="ja-JP" sz="2000" dirty="0">
                <a:latin typeface="Calibri" panose="020F0502020204030204" pitchFamily="34" charset="0"/>
                <a:cs typeface="Calibri" panose="020F0502020204030204" pitchFamily="34" charset="0"/>
              </a:rPr>
              <a:t>must be stored in a range search structure</a:t>
            </a:r>
          </a:p>
        </p:txBody>
      </p:sp>
      <p:sp>
        <p:nvSpPr>
          <p:cNvPr id="12" name="コンテンツ プレースホルダー 2">
            <a:extLst>
              <a:ext uri="{FF2B5EF4-FFF2-40B4-BE49-F238E27FC236}">
                <a16:creationId xmlns:a16="http://schemas.microsoft.com/office/drawing/2014/main" id="{E7491350-FEB0-A33C-36D2-4F4E65B7C9EE}"/>
              </a:ext>
            </a:extLst>
          </p:cNvPr>
          <p:cNvSpPr txBox="1">
            <a:spLocks/>
          </p:cNvSpPr>
          <p:nvPr/>
        </p:nvSpPr>
        <p:spPr>
          <a:xfrm>
            <a:off x="138369" y="5234193"/>
            <a:ext cx="11915260" cy="13285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ja-JP" sz="2400" dirty="0">
                <a:latin typeface="Calibri" panose="020F0502020204030204" pitchFamily="34" charset="0"/>
                <a:cs typeface="Calibri" panose="020F0502020204030204" pitchFamily="34" charset="0"/>
              </a:rPr>
              <a:t>In scenes with numerous complex reflections and refractions, </a:t>
            </a:r>
            <a:br>
              <a:rPr lang="en-US" altLang="ja-JP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ja-JP" sz="2400" dirty="0">
                <a:latin typeface="Calibri" panose="020F0502020204030204" pitchFamily="34" charset="0"/>
                <a:cs typeface="Calibri" panose="020F0502020204030204" pitchFamily="34" charset="0"/>
              </a:rPr>
              <a:t>this is the </a:t>
            </a:r>
            <a:r>
              <a:rPr lang="en-US" altLang="ja-JP" sz="2400" b="1" dirty="0">
                <a:latin typeface="Calibri" panose="020F0502020204030204" pitchFamily="34" charset="0"/>
                <a:cs typeface="Calibri" panose="020F0502020204030204" pitchFamily="34" charset="0"/>
              </a:rPr>
              <a:t>ultimate all-in-one approach</a:t>
            </a:r>
            <a:br>
              <a:rPr lang="en-US" altLang="ja-JP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ja-JP" sz="2400" dirty="0">
                <a:latin typeface="Calibri" panose="020F0502020204030204" pitchFamily="34" charset="0"/>
                <a:cs typeface="Calibri" panose="020F0502020204030204" pitchFamily="34" charset="0"/>
              </a:rPr>
              <a:t>but especially cases which execution speed is needed,  it’s rarely necessary…</a:t>
            </a:r>
          </a:p>
        </p:txBody>
      </p:sp>
      <p:sp>
        <p:nvSpPr>
          <p:cNvPr id="14" name="矢印: 下 13">
            <a:extLst>
              <a:ext uri="{FF2B5EF4-FFF2-40B4-BE49-F238E27FC236}">
                <a16:creationId xmlns:a16="http://schemas.microsoft.com/office/drawing/2014/main" id="{5F4A85AF-C157-99F6-502A-50DAEC9582FC}"/>
              </a:ext>
            </a:extLst>
          </p:cNvPr>
          <p:cNvSpPr/>
          <p:nvPr/>
        </p:nvSpPr>
        <p:spPr>
          <a:xfrm>
            <a:off x="5976937" y="4626872"/>
            <a:ext cx="238125" cy="266700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30725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5EB01-93D2-0F47-3F6F-3A4C744DE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F54E77-1503-574C-72BB-6F9F6DC3B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Conclusion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A07CEB0-D69D-3D02-C7E0-0664455B8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Robust light transport simulation integrating </a:t>
            </a:r>
            <a:br>
              <a:rPr lang="en-US" altLang="ja-JP" dirty="0"/>
            </a:br>
            <a:r>
              <a:rPr lang="en-US" altLang="ja-JP" dirty="0"/>
              <a:t>- </a:t>
            </a:r>
            <a:r>
              <a:rPr lang="en-US" altLang="ja-JP" b="1" dirty="0"/>
              <a:t>Bidirectional path tracing (BPT)</a:t>
            </a:r>
            <a:br>
              <a:rPr lang="en-US" altLang="ja-JP" dirty="0"/>
            </a:br>
            <a:r>
              <a:rPr lang="en-US" altLang="ja-JP" dirty="0"/>
              <a:t>- </a:t>
            </a:r>
            <a:r>
              <a:rPr lang="en-US" altLang="ja-JP" b="1" dirty="0"/>
              <a:t>(Progressive) Photon mapping (PPM)</a:t>
            </a:r>
            <a:endParaRPr kumimoji="1" lang="ja-JP" altLang="en-US" b="1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99B92B3-1326-03CE-12C9-62BB8B00A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lang="ja-JP" altLang="en-US" smtClean="0"/>
              <a:pPr/>
              <a:t>14</a:t>
            </a:fld>
            <a:endParaRPr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A76F2BC8-E062-0635-0674-FB15AE341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435" y="3266124"/>
            <a:ext cx="5998265" cy="2098648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96660B7-595B-A1C8-CF3F-43EC9172B664}"/>
              </a:ext>
            </a:extLst>
          </p:cNvPr>
          <p:cNvSpPr txBox="1"/>
          <p:nvPr/>
        </p:nvSpPr>
        <p:spPr>
          <a:xfrm>
            <a:off x="1568104" y="5493914"/>
            <a:ext cx="3590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Teaser image</a:t>
            </a:r>
            <a:endParaRPr kumimoji="1"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B17F3660-9887-3536-A9D2-8D4A7F15A1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0249" y="2438761"/>
            <a:ext cx="5553850" cy="3753374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0CC5736-8179-5764-4D13-941BE591B77D}"/>
              </a:ext>
            </a:extLst>
          </p:cNvPr>
          <p:cNvSpPr txBox="1"/>
          <p:nvPr/>
        </p:nvSpPr>
        <p:spPr>
          <a:xfrm>
            <a:off x="7471711" y="6285710"/>
            <a:ext cx="3590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Robustness of VCM in the SDS Path</a:t>
            </a:r>
            <a:endParaRPr kumimoji="1"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88869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901A5-B797-C553-4CF5-7B66403EF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0EA78A-CA6B-BF3E-8F6D-5054BBBA4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References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5A1C3DD-B89E-4ED4-F0F5-ED8D1F27C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07A33-D779-4A79-A49C-E26576C728D8}" type="slidenum">
              <a:rPr lang="ja-JP" altLang="en-US" smtClean="0"/>
              <a:pPr/>
              <a:t>15</a:t>
            </a:fld>
            <a:endParaRPr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32F36BE-3FE6-1B9A-B76C-F091CAAF7DBF}"/>
              </a:ext>
            </a:extLst>
          </p:cNvPr>
          <p:cNvSpPr txBox="1">
            <a:spLocks/>
          </p:cNvSpPr>
          <p:nvPr/>
        </p:nvSpPr>
        <p:spPr>
          <a:xfrm>
            <a:off x="210065" y="1258677"/>
            <a:ext cx="11771869" cy="53254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ja-JP" sz="2600" dirty="0">
                <a:latin typeface="Calibri" panose="020F0502020204030204" pitchFamily="34" charset="0"/>
                <a:cs typeface="Calibri" panose="020F0502020204030204" pitchFamily="34" charset="0"/>
              </a:rPr>
              <a:t>[1]: </a:t>
            </a:r>
            <a:r>
              <a:rPr lang="en-US" altLang="ja-JP" sz="2600" dirty="0"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https://www.semanticscholar.org/paper/Bidirectional-Path-Tracing-Vlnas/c9662ee171e68a08600203e975b4c04c770c2598</a:t>
            </a:r>
            <a:r>
              <a:rPr lang="en-US" altLang="ja-JP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indent="0">
              <a:buNone/>
            </a:pPr>
            <a:endParaRPr lang="en-US" altLang="ja-JP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altLang="ja-JP" sz="2600" dirty="0">
                <a:latin typeface="Calibri" panose="020F0502020204030204" pitchFamily="34" charset="0"/>
                <a:cs typeface="Calibri" panose="020F0502020204030204" pitchFamily="34" charset="0"/>
              </a:rPr>
              <a:t>[2]: </a:t>
            </a:r>
            <a:r>
              <a:rPr lang="en-US" altLang="ja-JP" sz="2600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https://www.researchgate.net/figure/llustration-of-photon-mapping-a-Light-sources-send-out-energy-as-photons-b-a_fig7_317224001</a:t>
            </a:r>
            <a:r>
              <a:rPr lang="en-US" altLang="ja-JP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indent="0">
              <a:buNone/>
            </a:pPr>
            <a:endParaRPr lang="en-US" altLang="ja-JP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altLang="ja-JP" sz="2600" dirty="0">
                <a:latin typeface="Calibri" panose="020F0502020204030204" pitchFamily="34" charset="0"/>
                <a:cs typeface="Calibri" panose="020F0502020204030204" pitchFamily="34" charset="0"/>
              </a:rPr>
              <a:t>[3]: </a:t>
            </a:r>
            <a:r>
              <a:rPr lang="en-US" altLang="ja-JP" dirty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“Implementing vertex connection and merging”</a:t>
            </a:r>
            <a:r>
              <a:rPr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 [Georgiev, 2012]</a:t>
            </a:r>
            <a:r>
              <a:rPr lang="en-US" altLang="ja-JP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39186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6057</TotalTime>
  <Words>1075</Words>
  <Application>Microsoft Office PowerPoint</Application>
  <PresentationFormat>ワイド画面</PresentationFormat>
  <Paragraphs>117</Paragraphs>
  <Slides>15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15</vt:i4>
      </vt:variant>
    </vt:vector>
  </HeadingPairs>
  <TitlesOfParts>
    <vt:vector size="23" baseType="lpstr">
      <vt:lpstr>メイリオ</vt:lpstr>
      <vt:lpstr>游ゴシック</vt:lpstr>
      <vt:lpstr>游ゴシック Light</vt:lpstr>
      <vt:lpstr>Arial</vt:lpstr>
      <vt:lpstr>Calibri</vt:lpstr>
      <vt:lpstr>Cambria Math</vt:lpstr>
      <vt:lpstr>Office テーマ</vt:lpstr>
      <vt:lpstr>1_Office テーマ</vt:lpstr>
      <vt:lpstr>Light Transport Simulation with  Vertex Connection and Merging</vt:lpstr>
      <vt:lpstr>Introduction</vt:lpstr>
      <vt:lpstr>Background: BPT</vt:lpstr>
      <vt:lpstr>Background: (P)PM</vt:lpstr>
      <vt:lpstr>Background: PPM</vt:lpstr>
      <vt:lpstr>Overview</vt:lpstr>
      <vt:lpstr>Overview</vt:lpstr>
      <vt:lpstr>Vertex merging</vt:lpstr>
      <vt:lpstr>Algorithm </vt:lpstr>
      <vt:lpstr>Asymptotic error analysis</vt:lpstr>
      <vt:lpstr>Results (4min comparison)</vt:lpstr>
      <vt:lpstr>Evaluation</vt:lpstr>
      <vt:lpstr>Discussion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cdua3660</dc:creator>
  <cp:lastModifiedBy>cdua3660</cp:lastModifiedBy>
  <cp:revision>11</cp:revision>
  <dcterms:created xsi:type="dcterms:W3CDTF">2026-03-20T02:36:06Z</dcterms:created>
  <dcterms:modified xsi:type="dcterms:W3CDTF">2026-03-25T11:54:09Z</dcterms:modified>
</cp:coreProperties>
</file>